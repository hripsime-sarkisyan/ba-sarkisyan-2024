
<file path=[Content_Types].xml><?xml version="1.0" encoding="utf-8"?>
<Types xmlns="http://schemas.openxmlformats.org/package/2006/content-types"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3"/>
  </p:notesMasterIdLst>
  <p:handoutMasterIdLst>
    <p:handoutMasterId r:id="rId14"/>
  </p:handoutMasterIdLst>
  <p:sldIdLst>
    <p:sldId id="330" r:id="rId2"/>
    <p:sldId id="346" r:id="rId3"/>
    <p:sldId id="338" r:id="rId4"/>
    <p:sldId id="347" r:id="rId5"/>
    <p:sldId id="333" r:id="rId6"/>
    <p:sldId id="340" r:id="rId7"/>
    <p:sldId id="341" r:id="rId8"/>
    <p:sldId id="342" r:id="rId9"/>
    <p:sldId id="345" r:id="rId10"/>
    <p:sldId id="343" r:id="rId11"/>
    <p:sldId id="344" r:id="rId12"/>
  </p:sldIdLst>
  <p:sldSz cx="12192000" cy="6858000"/>
  <p:notesSz cx="6797675" cy="98742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kas Iffländer" initials="LI" lastIdx="2" clrIdx="0">
    <p:extLst>
      <p:ext uri="{19B8F6BF-5375-455C-9EA6-DF929625EA0E}">
        <p15:presenceInfo xmlns:p15="http://schemas.microsoft.com/office/powerpoint/2012/main" userId="5d1ee3beb6b512d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D79"/>
    <a:srgbClr val="0A64C6"/>
    <a:srgbClr val="969696"/>
    <a:srgbClr val="3D5876"/>
    <a:srgbClr val="FFFF00"/>
    <a:srgbClr val="306AAB"/>
    <a:srgbClr val="29BA68"/>
    <a:srgbClr val="0000FF"/>
    <a:srgbClr val="008439"/>
    <a:srgbClr val="8A8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660B408-B3CF-4A94-85FC-2B1E0A45F4A2}" styleName="Dunkle Formatvorlage 2 - Akzent 1/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unkle Formatvorlage 2 - Akzent 3/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202B0CA-FC54-4496-8BCA-5EF66A818D29}" styleName="Dunkle Formatvorlag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68235" autoAdjust="0"/>
  </p:normalViewPr>
  <p:slideViewPr>
    <p:cSldViewPr>
      <p:cViewPr varScale="1">
        <p:scale>
          <a:sx n="56" d="100"/>
          <a:sy n="56" d="100"/>
        </p:scale>
        <p:origin x="1714" y="3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3326" y="62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9CED28-2733-4013-A63F-831B682F899B}" type="doc">
      <dgm:prSet loTypeId="urn:microsoft.com/office/officeart/2005/8/layout/process5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881434E9-7AD6-438D-A239-4F40CC6F2F80}">
      <dgm:prSet phldrT="[Text]" custT="1"/>
      <dgm:spPr>
        <a:blipFill rotWithShape="0">
          <a:blip xmlns:r="http://schemas.openxmlformats.org/officeDocument/2006/relationships" r:embed="rId1"/>
          <a:srcRect/>
          <a:stretch>
            <a:fillRect l="-24000" r="-24000"/>
          </a:stretch>
        </a:blipFill>
      </dgm:spPr>
      <dgm:t>
        <a:bodyPr/>
        <a:lstStyle/>
        <a:p>
          <a:endParaRPr lang="en-US" sz="2400" dirty="0"/>
        </a:p>
      </dgm:t>
    </dgm:pt>
    <dgm:pt modelId="{8C2E1F0C-18E1-4FA9-BB68-79B6D0946915}" type="parTrans" cxnId="{250F931F-9DAF-4CC6-AE6A-4F9C9DA1469F}">
      <dgm:prSet/>
      <dgm:spPr/>
      <dgm:t>
        <a:bodyPr/>
        <a:lstStyle/>
        <a:p>
          <a:endParaRPr lang="en-US"/>
        </a:p>
      </dgm:t>
    </dgm:pt>
    <dgm:pt modelId="{4D63CE28-87F5-47A5-BF86-A05216AE21CB}" type="sibTrans" cxnId="{250F931F-9DAF-4CC6-AE6A-4F9C9DA1469F}">
      <dgm:prSet/>
      <dgm:spPr/>
      <dgm:t>
        <a:bodyPr/>
        <a:lstStyle/>
        <a:p>
          <a:endParaRPr lang="en-US"/>
        </a:p>
      </dgm:t>
    </dgm:pt>
    <dgm:pt modelId="{EF2AB009-542B-4FD1-878E-B0A064D64BDA}">
      <dgm:prSet phldrT="[Text]"/>
      <dgm:spPr/>
      <dgm:t>
        <a:bodyPr/>
        <a:lstStyle/>
        <a:p>
          <a:pPr>
            <a:buNone/>
          </a:pPr>
          <a:r>
            <a:rPr lang="en-US" b="1" dirty="0"/>
            <a:t>Preprocessing</a:t>
          </a:r>
          <a:endParaRPr lang="en-US" dirty="0"/>
        </a:p>
      </dgm:t>
    </dgm:pt>
    <dgm:pt modelId="{7C943C41-6E8C-49D8-A3F1-6C3F34AFBFAB}" type="parTrans" cxnId="{5D6FCB69-5BC7-4FB5-8C2E-A7B1544A8BA8}">
      <dgm:prSet/>
      <dgm:spPr/>
      <dgm:t>
        <a:bodyPr/>
        <a:lstStyle/>
        <a:p>
          <a:endParaRPr lang="en-US"/>
        </a:p>
      </dgm:t>
    </dgm:pt>
    <dgm:pt modelId="{CF6B17FA-682E-4F56-8FE5-FFE7EC22CB57}" type="sibTrans" cxnId="{5D6FCB69-5BC7-4FB5-8C2E-A7B1544A8BA8}">
      <dgm:prSet/>
      <dgm:spPr/>
      <dgm:t>
        <a:bodyPr/>
        <a:lstStyle/>
        <a:p>
          <a:endParaRPr lang="en-US"/>
        </a:p>
      </dgm:t>
    </dgm:pt>
    <dgm:pt modelId="{6DE4B1A8-6C06-45ED-AAAA-2EDA6029E186}">
      <dgm:prSet phldrT="[Text]"/>
      <dgm:spPr/>
      <dgm:t>
        <a:bodyPr/>
        <a:lstStyle/>
        <a:p>
          <a:pPr>
            <a:buNone/>
          </a:pPr>
          <a:r>
            <a:rPr lang="en-US" b="1" dirty="0"/>
            <a:t>Graph Generation</a:t>
          </a:r>
          <a:endParaRPr lang="en-US" dirty="0"/>
        </a:p>
      </dgm:t>
    </dgm:pt>
    <dgm:pt modelId="{4DA37C60-50DC-4F7B-878B-0AC79D1B8325}" type="parTrans" cxnId="{4DFA07E2-DDA9-44AA-8F0B-E67C53AA3BD8}">
      <dgm:prSet/>
      <dgm:spPr/>
      <dgm:t>
        <a:bodyPr/>
        <a:lstStyle/>
        <a:p>
          <a:endParaRPr lang="en-US"/>
        </a:p>
      </dgm:t>
    </dgm:pt>
    <dgm:pt modelId="{E356E768-8EF8-4CD4-A963-055AA48B60C3}" type="sibTrans" cxnId="{4DFA07E2-DDA9-44AA-8F0B-E67C53AA3BD8}">
      <dgm:prSet/>
      <dgm:spPr/>
      <dgm:t>
        <a:bodyPr/>
        <a:lstStyle/>
        <a:p>
          <a:endParaRPr lang="en-US"/>
        </a:p>
      </dgm:t>
    </dgm:pt>
    <dgm:pt modelId="{388A9153-918F-4D43-988C-A5C0BB9B431F}">
      <dgm:prSet phldrT="[Text]"/>
      <dgm:spPr>
        <a:solidFill>
          <a:srgbClr val="C00000"/>
        </a:solidFill>
      </dgm:spPr>
      <dgm:t>
        <a:bodyPr/>
        <a:lstStyle/>
        <a:p>
          <a:pPr>
            <a:buNone/>
          </a:pPr>
          <a:r>
            <a:rPr lang="en-US" b="1" dirty="0"/>
            <a:t>Clustering</a:t>
          </a:r>
          <a:endParaRPr lang="en-US" dirty="0"/>
        </a:p>
      </dgm:t>
    </dgm:pt>
    <dgm:pt modelId="{5BBB5AB1-9D12-424E-BA73-CD67A802C285}" type="parTrans" cxnId="{6D53A3E1-E826-407D-9C92-522CA847FA89}">
      <dgm:prSet/>
      <dgm:spPr/>
      <dgm:t>
        <a:bodyPr/>
        <a:lstStyle/>
        <a:p>
          <a:endParaRPr lang="en-US"/>
        </a:p>
      </dgm:t>
    </dgm:pt>
    <dgm:pt modelId="{D413996F-850A-466C-AD51-5455EE1B3E5F}" type="sibTrans" cxnId="{6D53A3E1-E826-407D-9C92-522CA847FA89}">
      <dgm:prSet/>
      <dgm:spPr/>
      <dgm:t>
        <a:bodyPr/>
        <a:lstStyle/>
        <a:p>
          <a:endParaRPr lang="en-US" dirty="0"/>
        </a:p>
      </dgm:t>
    </dgm:pt>
    <dgm:pt modelId="{77D5C26E-82AE-4607-994D-0F5712F1AB76}">
      <dgm:prSet phldrT="[Text]"/>
      <dgm:spPr/>
      <dgm:t>
        <a:bodyPr/>
        <a:lstStyle/>
        <a:p>
          <a:pPr>
            <a:buNone/>
          </a:pPr>
          <a:r>
            <a:rPr lang="en-US" b="1" dirty="0"/>
            <a:t>Visualization</a:t>
          </a:r>
          <a:endParaRPr lang="en-US" dirty="0"/>
        </a:p>
      </dgm:t>
    </dgm:pt>
    <dgm:pt modelId="{3BB86514-D850-478B-B145-1FD50AE76A13}" type="parTrans" cxnId="{3E8671A1-B4C8-46D1-9D2A-2DA1664FB9C5}">
      <dgm:prSet/>
      <dgm:spPr/>
      <dgm:t>
        <a:bodyPr/>
        <a:lstStyle/>
        <a:p>
          <a:endParaRPr lang="en-US"/>
        </a:p>
      </dgm:t>
    </dgm:pt>
    <dgm:pt modelId="{1F6AEDDC-949D-4FC6-B338-1CA82021FDB6}" type="sibTrans" cxnId="{3E8671A1-B4C8-46D1-9D2A-2DA1664FB9C5}">
      <dgm:prSet/>
      <dgm:spPr/>
      <dgm:t>
        <a:bodyPr/>
        <a:lstStyle/>
        <a:p>
          <a:endParaRPr lang="en-US"/>
        </a:p>
      </dgm:t>
    </dgm:pt>
    <dgm:pt modelId="{057E8D88-C5D7-4F9C-A11D-4F9904BC799C}">
      <dgm:prSet/>
      <dgm:spPr>
        <a:noFill/>
      </dgm:spPr>
      <dgm:t>
        <a:bodyPr/>
        <a:lstStyle/>
        <a:p>
          <a:pPr>
            <a:buNone/>
          </a:pPr>
          <a:endParaRPr lang="en-US" dirty="0"/>
        </a:p>
      </dgm:t>
    </dgm:pt>
    <dgm:pt modelId="{A08D8DEB-140A-4373-BD3E-6B4B1F80DB32}" type="sibTrans" cxnId="{F3DB5F0C-E5A4-47F1-87F0-1804BC2FD5FB}">
      <dgm:prSet/>
      <dgm:spPr/>
      <dgm:t>
        <a:bodyPr/>
        <a:lstStyle/>
        <a:p>
          <a:endParaRPr lang="en-US" dirty="0"/>
        </a:p>
      </dgm:t>
    </dgm:pt>
    <dgm:pt modelId="{9ACB084E-3B88-43D8-8113-C3B132547381}" type="parTrans" cxnId="{F3DB5F0C-E5A4-47F1-87F0-1804BC2FD5FB}">
      <dgm:prSet/>
      <dgm:spPr/>
      <dgm:t>
        <a:bodyPr/>
        <a:lstStyle/>
        <a:p>
          <a:endParaRPr lang="en-US"/>
        </a:p>
      </dgm:t>
    </dgm:pt>
    <dgm:pt modelId="{4B3D1FB9-EA51-4DAD-92F9-18F2761109D3}" type="pres">
      <dgm:prSet presAssocID="{1D9CED28-2733-4013-A63F-831B682F899B}" presName="diagram" presStyleCnt="0">
        <dgm:presLayoutVars>
          <dgm:dir/>
          <dgm:resizeHandles val="exact"/>
        </dgm:presLayoutVars>
      </dgm:prSet>
      <dgm:spPr/>
    </dgm:pt>
    <dgm:pt modelId="{F0AF1760-BF6A-4E1E-87E1-FED55BE98E72}" type="pres">
      <dgm:prSet presAssocID="{881434E9-7AD6-438D-A239-4F40CC6F2F80}" presName="node" presStyleLbl="node1" presStyleIdx="0" presStyleCnt="6">
        <dgm:presLayoutVars>
          <dgm:bulletEnabled val="1"/>
        </dgm:presLayoutVars>
      </dgm:prSet>
      <dgm:spPr/>
    </dgm:pt>
    <dgm:pt modelId="{F3768969-AD10-4F93-8767-D4AC7C5AB18A}" type="pres">
      <dgm:prSet presAssocID="{4D63CE28-87F5-47A5-BF86-A05216AE21CB}" presName="sibTrans" presStyleLbl="sibTrans2D1" presStyleIdx="0" presStyleCnt="5"/>
      <dgm:spPr/>
    </dgm:pt>
    <dgm:pt modelId="{101BDC45-A945-4E68-9C40-5A93CCC6330B}" type="pres">
      <dgm:prSet presAssocID="{4D63CE28-87F5-47A5-BF86-A05216AE21CB}" presName="connectorText" presStyleLbl="sibTrans2D1" presStyleIdx="0" presStyleCnt="5"/>
      <dgm:spPr/>
    </dgm:pt>
    <dgm:pt modelId="{0EBB2A35-47A9-4BAD-9767-41CBD52B415F}" type="pres">
      <dgm:prSet presAssocID="{EF2AB009-542B-4FD1-878E-B0A064D64BDA}" presName="node" presStyleLbl="node1" presStyleIdx="1" presStyleCnt="6">
        <dgm:presLayoutVars>
          <dgm:bulletEnabled val="1"/>
        </dgm:presLayoutVars>
      </dgm:prSet>
      <dgm:spPr/>
    </dgm:pt>
    <dgm:pt modelId="{264A55A9-5B8B-4B60-B3B8-6F1C424CCEC9}" type="pres">
      <dgm:prSet presAssocID="{CF6B17FA-682E-4F56-8FE5-FFE7EC22CB57}" presName="sibTrans" presStyleLbl="sibTrans2D1" presStyleIdx="1" presStyleCnt="5"/>
      <dgm:spPr/>
    </dgm:pt>
    <dgm:pt modelId="{09E606CA-4652-45EB-A4E0-21F877824F47}" type="pres">
      <dgm:prSet presAssocID="{CF6B17FA-682E-4F56-8FE5-FFE7EC22CB57}" presName="connectorText" presStyleLbl="sibTrans2D1" presStyleIdx="1" presStyleCnt="5"/>
      <dgm:spPr/>
    </dgm:pt>
    <dgm:pt modelId="{8808C65B-ED5F-4416-B31D-9AE1902E8332}" type="pres">
      <dgm:prSet presAssocID="{6DE4B1A8-6C06-45ED-AAAA-2EDA6029E186}" presName="node" presStyleLbl="node1" presStyleIdx="2" presStyleCnt="6">
        <dgm:presLayoutVars>
          <dgm:bulletEnabled val="1"/>
        </dgm:presLayoutVars>
      </dgm:prSet>
      <dgm:spPr/>
    </dgm:pt>
    <dgm:pt modelId="{47E6D5E7-A5ED-4FCB-921D-4D02F00C9C6B}" type="pres">
      <dgm:prSet presAssocID="{E356E768-8EF8-4CD4-A963-055AA48B60C3}" presName="sibTrans" presStyleLbl="sibTrans2D1" presStyleIdx="2" presStyleCnt="5"/>
      <dgm:spPr/>
    </dgm:pt>
    <dgm:pt modelId="{91898249-7E3C-468D-B4C2-B27D079CE88A}" type="pres">
      <dgm:prSet presAssocID="{E356E768-8EF8-4CD4-A963-055AA48B60C3}" presName="connectorText" presStyleLbl="sibTrans2D1" presStyleIdx="2" presStyleCnt="5"/>
      <dgm:spPr/>
    </dgm:pt>
    <dgm:pt modelId="{C4094E4B-9DAF-4573-9357-3B8EE51E4CF1}" type="pres">
      <dgm:prSet presAssocID="{388A9153-918F-4D43-988C-A5C0BB9B431F}" presName="node" presStyleLbl="node1" presStyleIdx="3" presStyleCnt="6">
        <dgm:presLayoutVars>
          <dgm:bulletEnabled val="1"/>
        </dgm:presLayoutVars>
      </dgm:prSet>
      <dgm:spPr/>
    </dgm:pt>
    <dgm:pt modelId="{6C63E4E0-0BAA-49F9-BEE6-BFF28749BB12}" type="pres">
      <dgm:prSet presAssocID="{D413996F-850A-466C-AD51-5455EE1B3E5F}" presName="sibTrans" presStyleLbl="sibTrans2D1" presStyleIdx="3" presStyleCnt="5"/>
      <dgm:spPr/>
    </dgm:pt>
    <dgm:pt modelId="{40D82C7F-6542-4F94-A6DF-4F0071F9AC7D}" type="pres">
      <dgm:prSet presAssocID="{D413996F-850A-466C-AD51-5455EE1B3E5F}" presName="connectorText" presStyleLbl="sibTrans2D1" presStyleIdx="3" presStyleCnt="5"/>
      <dgm:spPr/>
    </dgm:pt>
    <dgm:pt modelId="{B267516A-7D3A-44DD-AE18-22B3F7A6AA86}" type="pres">
      <dgm:prSet presAssocID="{77D5C26E-82AE-4607-994D-0F5712F1AB76}" presName="node" presStyleLbl="node1" presStyleIdx="4" presStyleCnt="6">
        <dgm:presLayoutVars>
          <dgm:bulletEnabled val="1"/>
        </dgm:presLayoutVars>
      </dgm:prSet>
      <dgm:spPr/>
    </dgm:pt>
    <dgm:pt modelId="{879CB0CB-8104-4221-9D01-D003D67D9107}" type="pres">
      <dgm:prSet presAssocID="{1F6AEDDC-949D-4FC6-B338-1CA82021FDB6}" presName="sibTrans" presStyleLbl="sibTrans2D1" presStyleIdx="4" presStyleCnt="5"/>
      <dgm:spPr/>
    </dgm:pt>
    <dgm:pt modelId="{12897B0A-A459-48A3-8C14-6115A7048DC1}" type="pres">
      <dgm:prSet presAssocID="{1F6AEDDC-949D-4FC6-B338-1CA82021FDB6}" presName="connectorText" presStyleLbl="sibTrans2D1" presStyleIdx="4" presStyleCnt="5"/>
      <dgm:spPr/>
    </dgm:pt>
    <dgm:pt modelId="{C3D4B425-DE0F-41D4-98DF-2F92028459CF}" type="pres">
      <dgm:prSet presAssocID="{057E8D88-C5D7-4F9C-A11D-4F9904BC799C}" presName="node" presStyleLbl="node1" presStyleIdx="5" presStyleCnt="6" custLinFactNeighborX="4826" custLinFactNeighborY="-801">
        <dgm:presLayoutVars>
          <dgm:bulletEnabled val="1"/>
        </dgm:presLayoutVars>
      </dgm:prSet>
      <dgm:spPr/>
    </dgm:pt>
  </dgm:ptLst>
  <dgm:cxnLst>
    <dgm:cxn modelId="{F3DB5F0C-E5A4-47F1-87F0-1804BC2FD5FB}" srcId="{1D9CED28-2733-4013-A63F-831B682F899B}" destId="{057E8D88-C5D7-4F9C-A11D-4F9904BC799C}" srcOrd="5" destOrd="0" parTransId="{9ACB084E-3B88-43D8-8113-C3B132547381}" sibTransId="{A08D8DEB-140A-4373-BD3E-6B4B1F80DB32}"/>
    <dgm:cxn modelId="{B558190D-B24E-49D4-8E15-C42BA23F3DAE}" type="presOf" srcId="{388A9153-918F-4D43-988C-A5C0BB9B431F}" destId="{C4094E4B-9DAF-4573-9357-3B8EE51E4CF1}" srcOrd="0" destOrd="0" presId="urn:microsoft.com/office/officeart/2005/8/layout/process5"/>
    <dgm:cxn modelId="{250F931F-9DAF-4CC6-AE6A-4F9C9DA1469F}" srcId="{1D9CED28-2733-4013-A63F-831B682F899B}" destId="{881434E9-7AD6-438D-A239-4F40CC6F2F80}" srcOrd="0" destOrd="0" parTransId="{8C2E1F0C-18E1-4FA9-BB68-79B6D0946915}" sibTransId="{4D63CE28-87F5-47A5-BF86-A05216AE21CB}"/>
    <dgm:cxn modelId="{56791331-85B5-4354-B32E-2973D1F71009}" type="presOf" srcId="{D413996F-850A-466C-AD51-5455EE1B3E5F}" destId="{40D82C7F-6542-4F94-A6DF-4F0071F9AC7D}" srcOrd="1" destOrd="0" presId="urn:microsoft.com/office/officeart/2005/8/layout/process5"/>
    <dgm:cxn modelId="{1FBA9545-7B83-40A2-8EA8-9502978E5609}" type="presOf" srcId="{D413996F-850A-466C-AD51-5455EE1B3E5F}" destId="{6C63E4E0-0BAA-49F9-BEE6-BFF28749BB12}" srcOrd="0" destOrd="0" presId="urn:microsoft.com/office/officeart/2005/8/layout/process5"/>
    <dgm:cxn modelId="{5D6FCB69-5BC7-4FB5-8C2E-A7B1544A8BA8}" srcId="{1D9CED28-2733-4013-A63F-831B682F899B}" destId="{EF2AB009-542B-4FD1-878E-B0A064D64BDA}" srcOrd="1" destOrd="0" parTransId="{7C943C41-6E8C-49D8-A3F1-6C3F34AFBFAB}" sibTransId="{CF6B17FA-682E-4F56-8FE5-FFE7EC22CB57}"/>
    <dgm:cxn modelId="{3215146C-43F3-41BD-92BB-3EB82475AFE0}" type="presOf" srcId="{E356E768-8EF8-4CD4-A963-055AA48B60C3}" destId="{47E6D5E7-A5ED-4FCB-921D-4D02F00C9C6B}" srcOrd="0" destOrd="0" presId="urn:microsoft.com/office/officeart/2005/8/layout/process5"/>
    <dgm:cxn modelId="{DB1AF56D-643A-404C-AD6F-69081250F120}" type="presOf" srcId="{6DE4B1A8-6C06-45ED-AAAA-2EDA6029E186}" destId="{8808C65B-ED5F-4416-B31D-9AE1902E8332}" srcOrd="0" destOrd="0" presId="urn:microsoft.com/office/officeart/2005/8/layout/process5"/>
    <dgm:cxn modelId="{8C5F0B50-F1BD-4DE4-800D-79C509461436}" type="presOf" srcId="{057E8D88-C5D7-4F9C-A11D-4F9904BC799C}" destId="{C3D4B425-DE0F-41D4-98DF-2F92028459CF}" srcOrd="0" destOrd="0" presId="urn:microsoft.com/office/officeart/2005/8/layout/process5"/>
    <dgm:cxn modelId="{76D9A473-BE3F-4D94-88F2-73F4D6D6A314}" type="presOf" srcId="{881434E9-7AD6-438D-A239-4F40CC6F2F80}" destId="{F0AF1760-BF6A-4E1E-87E1-FED55BE98E72}" srcOrd="0" destOrd="0" presId="urn:microsoft.com/office/officeart/2005/8/layout/process5"/>
    <dgm:cxn modelId="{F6C00076-2180-493D-A134-398AA77E911B}" type="presOf" srcId="{EF2AB009-542B-4FD1-878E-B0A064D64BDA}" destId="{0EBB2A35-47A9-4BAD-9767-41CBD52B415F}" srcOrd="0" destOrd="0" presId="urn:microsoft.com/office/officeart/2005/8/layout/process5"/>
    <dgm:cxn modelId="{A22F8B8A-F92E-482B-895B-27757D8A14D9}" type="presOf" srcId="{77D5C26E-82AE-4607-994D-0F5712F1AB76}" destId="{B267516A-7D3A-44DD-AE18-22B3F7A6AA86}" srcOrd="0" destOrd="0" presId="urn:microsoft.com/office/officeart/2005/8/layout/process5"/>
    <dgm:cxn modelId="{87FD828F-0B2F-4B65-87B8-6DB7EC03FB38}" type="presOf" srcId="{4D63CE28-87F5-47A5-BF86-A05216AE21CB}" destId="{101BDC45-A945-4E68-9C40-5A93CCC6330B}" srcOrd="1" destOrd="0" presId="urn:microsoft.com/office/officeart/2005/8/layout/process5"/>
    <dgm:cxn modelId="{4F765392-D87A-4993-A531-7F5B0544C7B0}" type="presOf" srcId="{4D63CE28-87F5-47A5-BF86-A05216AE21CB}" destId="{F3768969-AD10-4F93-8767-D4AC7C5AB18A}" srcOrd="0" destOrd="0" presId="urn:microsoft.com/office/officeart/2005/8/layout/process5"/>
    <dgm:cxn modelId="{3E8671A1-B4C8-46D1-9D2A-2DA1664FB9C5}" srcId="{1D9CED28-2733-4013-A63F-831B682F899B}" destId="{77D5C26E-82AE-4607-994D-0F5712F1AB76}" srcOrd="4" destOrd="0" parTransId="{3BB86514-D850-478B-B145-1FD50AE76A13}" sibTransId="{1F6AEDDC-949D-4FC6-B338-1CA82021FDB6}"/>
    <dgm:cxn modelId="{8BACF8B0-CB48-42C9-9A70-4049D08B07FF}" type="presOf" srcId="{CF6B17FA-682E-4F56-8FE5-FFE7EC22CB57}" destId="{09E606CA-4652-45EB-A4E0-21F877824F47}" srcOrd="1" destOrd="0" presId="urn:microsoft.com/office/officeart/2005/8/layout/process5"/>
    <dgm:cxn modelId="{D47145B8-140B-4F25-AC2B-7F9840729DF8}" type="presOf" srcId="{1D9CED28-2733-4013-A63F-831B682F899B}" destId="{4B3D1FB9-EA51-4DAD-92F9-18F2761109D3}" srcOrd="0" destOrd="0" presId="urn:microsoft.com/office/officeart/2005/8/layout/process5"/>
    <dgm:cxn modelId="{115F95BB-D1FB-4865-A5B2-E4C8A7E5DD53}" type="presOf" srcId="{1F6AEDDC-949D-4FC6-B338-1CA82021FDB6}" destId="{879CB0CB-8104-4221-9D01-D003D67D9107}" srcOrd="0" destOrd="0" presId="urn:microsoft.com/office/officeart/2005/8/layout/process5"/>
    <dgm:cxn modelId="{46213EC0-F52F-416C-9E99-CF9785C0ECBA}" type="presOf" srcId="{CF6B17FA-682E-4F56-8FE5-FFE7EC22CB57}" destId="{264A55A9-5B8B-4B60-B3B8-6F1C424CCEC9}" srcOrd="0" destOrd="0" presId="urn:microsoft.com/office/officeart/2005/8/layout/process5"/>
    <dgm:cxn modelId="{EBF57DD0-6307-4410-B91C-D2918D921581}" type="presOf" srcId="{E356E768-8EF8-4CD4-A963-055AA48B60C3}" destId="{91898249-7E3C-468D-B4C2-B27D079CE88A}" srcOrd="1" destOrd="0" presId="urn:microsoft.com/office/officeart/2005/8/layout/process5"/>
    <dgm:cxn modelId="{EB11BDD9-3025-4189-B7FB-AF327EE4AE2D}" type="presOf" srcId="{1F6AEDDC-949D-4FC6-B338-1CA82021FDB6}" destId="{12897B0A-A459-48A3-8C14-6115A7048DC1}" srcOrd="1" destOrd="0" presId="urn:microsoft.com/office/officeart/2005/8/layout/process5"/>
    <dgm:cxn modelId="{6D53A3E1-E826-407D-9C92-522CA847FA89}" srcId="{1D9CED28-2733-4013-A63F-831B682F899B}" destId="{388A9153-918F-4D43-988C-A5C0BB9B431F}" srcOrd="3" destOrd="0" parTransId="{5BBB5AB1-9D12-424E-BA73-CD67A802C285}" sibTransId="{D413996F-850A-466C-AD51-5455EE1B3E5F}"/>
    <dgm:cxn modelId="{4DFA07E2-DDA9-44AA-8F0B-E67C53AA3BD8}" srcId="{1D9CED28-2733-4013-A63F-831B682F899B}" destId="{6DE4B1A8-6C06-45ED-AAAA-2EDA6029E186}" srcOrd="2" destOrd="0" parTransId="{4DA37C60-50DC-4F7B-878B-0AC79D1B8325}" sibTransId="{E356E768-8EF8-4CD4-A963-055AA48B60C3}"/>
    <dgm:cxn modelId="{7F0E4D8E-FB1D-44C5-8A08-E680787E7C6F}" type="presParOf" srcId="{4B3D1FB9-EA51-4DAD-92F9-18F2761109D3}" destId="{F0AF1760-BF6A-4E1E-87E1-FED55BE98E72}" srcOrd="0" destOrd="0" presId="urn:microsoft.com/office/officeart/2005/8/layout/process5"/>
    <dgm:cxn modelId="{0FB8B70E-B6A7-480E-929C-068D8B1C0A8D}" type="presParOf" srcId="{4B3D1FB9-EA51-4DAD-92F9-18F2761109D3}" destId="{F3768969-AD10-4F93-8767-D4AC7C5AB18A}" srcOrd="1" destOrd="0" presId="urn:microsoft.com/office/officeart/2005/8/layout/process5"/>
    <dgm:cxn modelId="{F206EA17-6E5A-4924-A9B6-2512D6708649}" type="presParOf" srcId="{F3768969-AD10-4F93-8767-D4AC7C5AB18A}" destId="{101BDC45-A945-4E68-9C40-5A93CCC6330B}" srcOrd="0" destOrd="0" presId="urn:microsoft.com/office/officeart/2005/8/layout/process5"/>
    <dgm:cxn modelId="{688C4C8E-B208-46A5-A24F-9010C15DAF44}" type="presParOf" srcId="{4B3D1FB9-EA51-4DAD-92F9-18F2761109D3}" destId="{0EBB2A35-47A9-4BAD-9767-41CBD52B415F}" srcOrd="2" destOrd="0" presId="urn:microsoft.com/office/officeart/2005/8/layout/process5"/>
    <dgm:cxn modelId="{AA90B6DA-A3B6-4171-9115-0FF3999D9641}" type="presParOf" srcId="{4B3D1FB9-EA51-4DAD-92F9-18F2761109D3}" destId="{264A55A9-5B8B-4B60-B3B8-6F1C424CCEC9}" srcOrd="3" destOrd="0" presId="urn:microsoft.com/office/officeart/2005/8/layout/process5"/>
    <dgm:cxn modelId="{3758A1C5-2481-4583-9269-FF236E717A09}" type="presParOf" srcId="{264A55A9-5B8B-4B60-B3B8-6F1C424CCEC9}" destId="{09E606CA-4652-45EB-A4E0-21F877824F47}" srcOrd="0" destOrd="0" presId="urn:microsoft.com/office/officeart/2005/8/layout/process5"/>
    <dgm:cxn modelId="{30DEE317-0228-4C65-9526-F0C798F45079}" type="presParOf" srcId="{4B3D1FB9-EA51-4DAD-92F9-18F2761109D3}" destId="{8808C65B-ED5F-4416-B31D-9AE1902E8332}" srcOrd="4" destOrd="0" presId="urn:microsoft.com/office/officeart/2005/8/layout/process5"/>
    <dgm:cxn modelId="{61353847-749C-4008-B207-BC0C917C3BC3}" type="presParOf" srcId="{4B3D1FB9-EA51-4DAD-92F9-18F2761109D3}" destId="{47E6D5E7-A5ED-4FCB-921D-4D02F00C9C6B}" srcOrd="5" destOrd="0" presId="urn:microsoft.com/office/officeart/2005/8/layout/process5"/>
    <dgm:cxn modelId="{97A828DB-850A-4F59-9DF4-D310B75504B7}" type="presParOf" srcId="{47E6D5E7-A5ED-4FCB-921D-4D02F00C9C6B}" destId="{91898249-7E3C-468D-B4C2-B27D079CE88A}" srcOrd="0" destOrd="0" presId="urn:microsoft.com/office/officeart/2005/8/layout/process5"/>
    <dgm:cxn modelId="{4049ABA4-7BF1-45ED-8C95-582CF8CC58A9}" type="presParOf" srcId="{4B3D1FB9-EA51-4DAD-92F9-18F2761109D3}" destId="{C4094E4B-9DAF-4573-9357-3B8EE51E4CF1}" srcOrd="6" destOrd="0" presId="urn:microsoft.com/office/officeart/2005/8/layout/process5"/>
    <dgm:cxn modelId="{04C64706-266D-4705-B717-B8EA6FA7522A}" type="presParOf" srcId="{4B3D1FB9-EA51-4DAD-92F9-18F2761109D3}" destId="{6C63E4E0-0BAA-49F9-BEE6-BFF28749BB12}" srcOrd="7" destOrd="0" presId="urn:microsoft.com/office/officeart/2005/8/layout/process5"/>
    <dgm:cxn modelId="{4ACBB9FA-ADBF-4484-883F-4AA48BB1DD9C}" type="presParOf" srcId="{6C63E4E0-0BAA-49F9-BEE6-BFF28749BB12}" destId="{40D82C7F-6542-4F94-A6DF-4F0071F9AC7D}" srcOrd="0" destOrd="0" presId="urn:microsoft.com/office/officeart/2005/8/layout/process5"/>
    <dgm:cxn modelId="{70B89325-CAE5-47BB-9AE7-72D8BD15AB22}" type="presParOf" srcId="{4B3D1FB9-EA51-4DAD-92F9-18F2761109D3}" destId="{B267516A-7D3A-44DD-AE18-22B3F7A6AA86}" srcOrd="8" destOrd="0" presId="urn:microsoft.com/office/officeart/2005/8/layout/process5"/>
    <dgm:cxn modelId="{A4955B22-A712-471B-81C8-6C67CEC1F66A}" type="presParOf" srcId="{4B3D1FB9-EA51-4DAD-92F9-18F2761109D3}" destId="{879CB0CB-8104-4221-9D01-D003D67D9107}" srcOrd="9" destOrd="0" presId="urn:microsoft.com/office/officeart/2005/8/layout/process5"/>
    <dgm:cxn modelId="{9A425107-02F3-4F13-8042-F308CD950702}" type="presParOf" srcId="{879CB0CB-8104-4221-9D01-D003D67D9107}" destId="{12897B0A-A459-48A3-8C14-6115A7048DC1}" srcOrd="0" destOrd="0" presId="urn:microsoft.com/office/officeart/2005/8/layout/process5"/>
    <dgm:cxn modelId="{7DD9A039-D1C6-42AF-8B43-2BF2395CE66E}" type="presParOf" srcId="{4B3D1FB9-EA51-4DAD-92F9-18F2761109D3}" destId="{C3D4B425-DE0F-41D4-98DF-2F92028459CF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CE91C2-2679-45E5-ABC3-F8AA5E9F49EF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F8BE745C-3803-40BC-9523-FD0F43565D0C}" type="pres">
      <dgm:prSet presAssocID="{8DCE91C2-2679-45E5-ABC3-F8AA5E9F49EF}" presName="Name0" presStyleCnt="0">
        <dgm:presLayoutVars>
          <dgm:dir/>
          <dgm:resizeHandles val="exact"/>
        </dgm:presLayoutVars>
      </dgm:prSet>
      <dgm:spPr/>
    </dgm:pt>
  </dgm:ptLst>
  <dgm:cxnLst>
    <dgm:cxn modelId="{AC234AF8-D4A3-427F-9FB4-335FAA2CA17A}" type="presOf" srcId="{8DCE91C2-2679-45E5-ABC3-F8AA5E9F49EF}" destId="{F8BE745C-3803-40BC-9523-FD0F43565D0C}" srcOrd="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1F676C8-3F29-4176-BBF3-641BBF490007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0D4908-0CEE-4E58-8A52-2620BBFDA817}">
      <dgm:prSet phldrT="[Text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de-DE" b="1" dirty="0">
              <a:solidFill>
                <a:schemeClr val="tx1"/>
              </a:solidFill>
            </a:rPr>
            <a:t>Problem</a:t>
          </a:r>
          <a:endParaRPr lang="en-US" b="1" dirty="0">
            <a:solidFill>
              <a:schemeClr val="tx1"/>
            </a:solidFill>
          </a:endParaRPr>
        </a:p>
      </dgm:t>
    </dgm:pt>
    <dgm:pt modelId="{0B25BFA6-659C-4655-B42F-6AA2E9C8F90C}" type="parTrans" cxnId="{838457A0-93E0-450F-8519-D7D0D3393A15}">
      <dgm:prSet/>
      <dgm:spPr/>
      <dgm:t>
        <a:bodyPr/>
        <a:lstStyle/>
        <a:p>
          <a:endParaRPr lang="en-US"/>
        </a:p>
      </dgm:t>
    </dgm:pt>
    <dgm:pt modelId="{C25AA14C-2122-4DAD-9A2A-0FAAB9B2E6F9}" type="sibTrans" cxnId="{838457A0-93E0-450F-8519-D7D0D3393A15}">
      <dgm:prSet/>
      <dgm:spPr/>
      <dgm:t>
        <a:bodyPr/>
        <a:lstStyle/>
        <a:p>
          <a:endParaRPr lang="en-US"/>
        </a:p>
      </dgm:t>
    </dgm:pt>
    <dgm:pt modelId="{458A0D2D-3C67-43EF-B222-DBC9FF779833}">
      <dgm:prSet phldrT="[Text]"/>
      <dgm:spPr/>
      <dgm:t>
        <a:bodyPr/>
        <a:lstStyle/>
        <a:p>
          <a:r>
            <a:rPr lang="en-US" b="0" dirty="0">
              <a:solidFill>
                <a:schemeClr val="tx1"/>
              </a:solidFill>
            </a:rPr>
            <a:t>Lack of integration of semantic attributes and poor spatial coherence.</a:t>
          </a:r>
          <a:endParaRPr lang="en-US" dirty="0">
            <a:solidFill>
              <a:schemeClr val="tx1"/>
            </a:solidFill>
          </a:endParaRPr>
        </a:p>
      </dgm:t>
    </dgm:pt>
    <dgm:pt modelId="{43C7AFEF-77A0-4330-A70E-543B304CFB12}" type="parTrans" cxnId="{5FD261E1-8F46-48C6-80AC-7D5AE0446736}">
      <dgm:prSet/>
      <dgm:spPr/>
      <dgm:t>
        <a:bodyPr/>
        <a:lstStyle/>
        <a:p>
          <a:endParaRPr lang="en-US"/>
        </a:p>
      </dgm:t>
    </dgm:pt>
    <dgm:pt modelId="{7B0615C1-CAB1-4F7F-91CB-C304E0253367}" type="sibTrans" cxnId="{5FD261E1-8F46-48C6-80AC-7D5AE0446736}">
      <dgm:prSet/>
      <dgm:spPr/>
      <dgm:t>
        <a:bodyPr/>
        <a:lstStyle/>
        <a:p>
          <a:endParaRPr lang="en-US"/>
        </a:p>
      </dgm:t>
    </dgm:pt>
    <dgm:pt modelId="{0C2BF44A-8408-426C-B455-07BCBE5EA964}">
      <dgm:prSet phldrT="[Text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de-DE" b="1" dirty="0">
              <a:solidFill>
                <a:schemeClr val="tx1"/>
              </a:solidFill>
            </a:rPr>
            <a:t>Idea</a:t>
          </a:r>
          <a:endParaRPr lang="en-US" b="1" dirty="0">
            <a:solidFill>
              <a:schemeClr val="tx1"/>
            </a:solidFill>
          </a:endParaRPr>
        </a:p>
      </dgm:t>
    </dgm:pt>
    <dgm:pt modelId="{10E9A276-70FC-40CF-BD4C-929CE0CF4D02}" type="parTrans" cxnId="{8A48C8B2-970A-4983-B522-11B2AF105FE7}">
      <dgm:prSet/>
      <dgm:spPr/>
      <dgm:t>
        <a:bodyPr/>
        <a:lstStyle/>
        <a:p>
          <a:endParaRPr lang="en-US"/>
        </a:p>
      </dgm:t>
    </dgm:pt>
    <dgm:pt modelId="{073BA679-E262-4164-8C3E-ADA4949C40AC}" type="sibTrans" cxnId="{8A48C8B2-970A-4983-B522-11B2AF105FE7}">
      <dgm:prSet/>
      <dgm:spPr/>
      <dgm:t>
        <a:bodyPr/>
        <a:lstStyle/>
        <a:p>
          <a:endParaRPr lang="en-US"/>
        </a:p>
      </dgm:t>
    </dgm:pt>
    <dgm:pt modelId="{46703C00-6EB4-49B7-B162-106D4BDEFB35}">
      <dgm:prSet phldrT="[Text]"/>
      <dgm:spPr/>
      <dgm:t>
        <a:bodyPr/>
        <a:lstStyle/>
        <a:p>
          <a:r>
            <a:rPr lang="en-US" b="0" dirty="0">
              <a:solidFill>
                <a:schemeClr val="tx1"/>
              </a:solidFill>
            </a:rPr>
            <a:t>Adapt the DBSC algorithm to include both geometric proximity and population similarity. </a:t>
          </a:r>
          <a:endParaRPr lang="en-US" dirty="0">
            <a:solidFill>
              <a:schemeClr val="tx1"/>
            </a:solidFill>
          </a:endParaRPr>
        </a:p>
      </dgm:t>
    </dgm:pt>
    <dgm:pt modelId="{032E1E6A-85BE-462A-BD16-5E6029E68386}" type="parTrans" cxnId="{4D9DE1DB-ED3F-45AD-B104-9DD1E20A008B}">
      <dgm:prSet/>
      <dgm:spPr/>
      <dgm:t>
        <a:bodyPr/>
        <a:lstStyle/>
        <a:p>
          <a:endParaRPr lang="en-US"/>
        </a:p>
      </dgm:t>
    </dgm:pt>
    <dgm:pt modelId="{A6FB9AD5-3023-4212-86D3-45D8AC81CC6C}" type="sibTrans" cxnId="{4D9DE1DB-ED3F-45AD-B104-9DD1E20A008B}">
      <dgm:prSet/>
      <dgm:spPr/>
      <dgm:t>
        <a:bodyPr/>
        <a:lstStyle/>
        <a:p>
          <a:endParaRPr lang="en-US"/>
        </a:p>
      </dgm:t>
    </dgm:pt>
    <dgm:pt modelId="{8A31F70C-A5DC-43E1-9CC5-31129334FF5B}">
      <dgm:prSet phldrT="[Text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de-DE" b="1" dirty="0">
              <a:solidFill>
                <a:schemeClr val="tx1"/>
              </a:solidFill>
            </a:rPr>
            <a:t>Benefits</a:t>
          </a:r>
          <a:endParaRPr lang="en-US" b="1" dirty="0">
            <a:solidFill>
              <a:schemeClr val="tx1"/>
            </a:solidFill>
          </a:endParaRPr>
        </a:p>
      </dgm:t>
    </dgm:pt>
    <dgm:pt modelId="{2509159E-74BB-49F7-ADE2-1A27ECD2FEF3}" type="parTrans" cxnId="{1078E950-E70A-46DF-BE35-4F54D43F23FC}">
      <dgm:prSet/>
      <dgm:spPr/>
      <dgm:t>
        <a:bodyPr/>
        <a:lstStyle/>
        <a:p>
          <a:endParaRPr lang="en-US"/>
        </a:p>
      </dgm:t>
    </dgm:pt>
    <dgm:pt modelId="{D9DDEDC7-34EB-4C4B-8AEA-CC6EAF9D9059}" type="sibTrans" cxnId="{1078E950-E70A-46DF-BE35-4F54D43F23FC}">
      <dgm:prSet/>
      <dgm:spPr/>
      <dgm:t>
        <a:bodyPr/>
        <a:lstStyle/>
        <a:p>
          <a:endParaRPr lang="en-US"/>
        </a:p>
      </dgm:t>
    </dgm:pt>
    <dgm:pt modelId="{AF861169-9C72-478F-BCE5-92B8FBCC6880}">
      <dgm:prSet phldrT="[Text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de-DE" b="1" dirty="0">
              <a:solidFill>
                <a:schemeClr val="tx1"/>
              </a:solidFill>
            </a:rPr>
            <a:t>Action</a:t>
          </a:r>
          <a:endParaRPr lang="en-US" b="1" dirty="0">
            <a:solidFill>
              <a:schemeClr val="tx1"/>
            </a:solidFill>
          </a:endParaRPr>
        </a:p>
      </dgm:t>
    </dgm:pt>
    <dgm:pt modelId="{A9FE36CD-CD86-4E70-B7E2-86B1A69A9544}" type="parTrans" cxnId="{DC5F7B93-68BE-4D80-8D44-D04B4A7F76BD}">
      <dgm:prSet/>
      <dgm:spPr/>
      <dgm:t>
        <a:bodyPr/>
        <a:lstStyle/>
        <a:p>
          <a:endParaRPr lang="en-US"/>
        </a:p>
      </dgm:t>
    </dgm:pt>
    <dgm:pt modelId="{22ACA049-0304-4B49-8B26-CF7E9FFA3831}" type="sibTrans" cxnId="{DC5F7B93-68BE-4D80-8D44-D04B4A7F76BD}">
      <dgm:prSet/>
      <dgm:spPr/>
      <dgm:t>
        <a:bodyPr/>
        <a:lstStyle/>
        <a:p>
          <a:endParaRPr lang="en-US"/>
        </a:p>
      </dgm:t>
    </dgm:pt>
    <dgm:pt modelId="{E0C361A8-06C9-4CAB-BF57-9BBA48827030}">
      <dgm:prSet phldrT="[Text]"/>
      <dgm:spPr/>
      <dgm:t>
        <a:bodyPr/>
        <a:lstStyle/>
        <a:p>
          <a:pPr>
            <a:buClrTx/>
            <a:buSzTx/>
            <a:buFont typeface="Arial" panose="020B0604020202020204" pitchFamily="34" charset="0"/>
            <a:buChar char="•"/>
          </a:pPr>
          <a:r>
            <a:rPr lang="en-US" b="0" dirty="0">
              <a:solidFill>
                <a:schemeClr val="tx1"/>
              </a:solidFill>
            </a:rPr>
            <a:t>Produces more compact and semantically meaningful urban clusters that better reflect real-world settlement patterns.</a:t>
          </a:r>
          <a:endParaRPr lang="en-US" dirty="0">
            <a:solidFill>
              <a:schemeClr val="tx1"/>
            </a:solidFill>
          </a:endParaRPr>
        </a:p>
      </dgm:t>
    </dgm:pt>
    <dgm:pt modelId="{01623E1D-988A-430B-88B6-12C8800AE59B}" type="parTrans" cxnId="{A6D8EE7F-DE57-480C-ACA0-20B42402201D}">
      <dgm:prSet/>
      <dgm:spPr/>
      <dgm:t>
        <a:bodyPr/>
        <a:lstStyle/>
        <a:p>
          <a:endParaRPr lang="en-US"/>
        </a:p>
      </dgm:t>
    </dgm:pt>
    <dgm:pt modelId="{360E158B-E50B-4103-ADF7-CB1C0015AB43}" type="sibTrans" cxnId="{A6D8EE7F-DE57-480C-ACA0-20B42402201D}">
      <dgm:prSet/>
      <dgm:spPr/>
      <dgm:t>
        <a:bodyPr/>
        <a:lstStyle/>
        <a:p>
          <a:endParaRPr lang="en-US"/>
        </a:p>
      </dgm:t>
    </dgm:pt>
    <dgm:pt modelId="{0F97A6EE-AAB0-42BB-8323-E664F3F8394D}">
      <dgm:prSet/>
      <dgm:spPr/>
      <dgm:t>
        <a:bodyPr/>
        <a:lstStyle/>
        <a:p>
          <a:pPr>
            <a:buClrTx/>
            <a:buSzTx/>
            <a:buFont typeface="Arial" panose="020B0604020202020204" pitchFamily="34" charset="0"/>
            <a:buChar char="•"/>
          </a:pPr>
          <a:r>
            <a:rPr lang="en-US" b="0" dirty="0">
              <a:solidFill>
                <a:schemeClr val="tx1"/>
              </a:solidFill>
            </a:rPr>
            <a:t>Implement the new clustering approach within the existing geospatial pipeline, evaluate with spatial metrics. </a:t>
          </a:r>
          <a:endParaRPr lang="en-US" dirty="0">
            <a:solidFill>
              <a:schemeClr val="tx1"/>
            </a:solidFill>
          </a:endParaRPr>
        </a:p>
      </dgm:t>
    </dgm:pt>
    <dgm:pt modelId="{974D5742-553D-415D-92FD-4E82EE7C40BA}" type="parTrans" cxnId="{886C7D05-0C0A-4EFB-A7FE-5EF27E81F071}">
      <dgm:prSet/>
      <dgm:spPr/>
      <dgm:t>
        <a:bodyPr/>
        <a:lstStyle/>
        <a:p>
          <a:endParaRPr lang="en-US"/>
        </a:p>
      </dgm:t>
    </dgm:pt>
    <dgm:pt modelId="{7B00CD87-9AAB-40A3-9252-6265C6E82723}" type="sibTrans" cxnId="{886C7D05-0C0A-4EFB-A7FE-5EF27E81F071}">
      <dgm:prSet/>
      <dgm:spPr/>
      <dgm:t>
        <a:bodyPr/>
        <a:lstStyle/>
        <a:p>
          <a:endParaRPr lang="en-US"/>
        </a:p>
      </dgm:t>
    </dgm:pt>
    <dgm:pt modelId="{81486CA6-24AD-40BB-85D7-2D64BB65C289}" type="pres">
      <dgm:prSet presAssocID="{71F676C8-3F29-4176-BBF3-641BBF490007}" presName="linearFlow" presStyleCnt="0">
        <dgm:presLayoutVars>
          <dgm:dir/>
          <dgm:animLvl val="lvl"/>
          <dgm:resizeHandles val="exact"/>
        </dgm:presLayoutVars>
      </dgm:prSet>
      <dgm:spPr/>
    </dgm:pt>
    <dgm:pt modelId="{E1872329-B520-4C5F-960C-B83A18A30423}" type="pres">
      <dgm:prSet presAssocID="{360D4908-0CEE-4E58-8A52-2620BBFDA817}" presName="composite" presStyleCnt="0"/>
      <dgm:spPr/>
    </dgm:pt>
    <dgm:pt modelId="{BF9A6BB7-C45F-414B-8B0B-7A401FFEBEC3}" type="pres">
      <dgm:prSet presAssocID="{360D4908-0CEE-4E58-8A52-2620BBFDA817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A53EE3C6-1AF4-4585-A053-BD103B5F924F}" type="pres">
      <dgm:prSet presAssocID="{360D4908-0CEE-4E58-8A52-2620BBFDA817}" presName="descendantText" presStyleLbl="alignAcc1" presStyleIdx="0" presStyleCnt="4">
        <dgm:presLayoutVars>
          <dgm:bulletEnabled val="1"/>
        </dgm:presLayoutVars>
      </dgm:prSet>
      <dgm:spPr/>
    </dgm:pt>
    <dgm:pt modelId="{A7870B8C-2C1F-4542-9FE3-AB8F7D6558B5}" type="pres">
      <dgm:prSet presAssocID="{C25AA14C-2122-4DAD-9A2A-0FAAB9B2E6F9}" presName="sp" presStyleCnt="0"/>
      <dgm:spPr/>
    </dgm:pt>
    <dgm:pt modelId="{2D3E9E4C-3E19-4324-850F-8D9CF4C0DAED}" type="pres">
      <dgm:prSet presAssocID="{0C2BF44A-8408-426C-B455-07BCBE5EA964}" presName="composite" presStyleCnt="0"/>
      <dgm:spPr/>
    </dgm:pt>
    <dgm:pt modelId="{46547F9C-0847-49BB-B4CD-5DFDD194C0A8}" type="pres">
      <dgm:prSet presAssocID="{0C2BF44A-8408-426C-B455-07BCBE5EA964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5F036F4C-FCCE-4A98-988F-59D7772080FB}" type="pres">
      <dgm:prSet presAssocID="{0C2BF44A-8408-426C-B455-07BCBE5EA964}" presName="descendantText" presStyleLbl="alignAcc1" presStyleIdx="1" presStyleCnt="4">
        <dgm:presLayoutVars>
          <dgm:bulletEnabled val="1"/>
        </dgm:presLayoutVars>
      </dgm:prSet>
      <dgm:spPr/>
    </dgm:pt>
    <dgm:pt modelId="{2C526D6F-F46D-4141-BEEA-253E92726C44}" type="pres">
      <dgm:prSet presAssocID="{073BA679-E262-4164-8C3E-ADA4949C40AC}" presName="sp" presStyleCnt="0"/>
      <dgm:spPr/>
    </dgm:pt>
    <dgm:pt modelId="{6B91A3B0-AB5A-4683-996F-FB82391BC623}" type="pres">
      <dgm:prSet presAssocID="{8A31F70C-A5DC-43E1-9CC5-31129334FF5B}" presName="composite" presStyleCnt="0"/>
      <dgm:spPr/>
    </dgm:pt>
    <dgm:pt modelId="{8C60F3D5-FAF2-4329-AEF7-84A05B532BCF}" type="pres">
      <dgm:prSet presAssocID="{8A31F70C-A5DC-43E1-9CC5-31129334FF5B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7B6354EF-3D5A-4764-8FEC-4D070AB4E886}" type="pres">
      <dgm:prSet presAssocID="{8A31F70C-A5DC-43E1-9CC5-31129334FF5B}" presName="descendantText" presStyleLbl="alignAcc1" presStyleIdx="2" presStyleCnt="4">
        <dgm:presLayoutVars>
          <dgm:bulletEnabled val="1"/>
        </dgm:presLayoutVars>
      </dgm:prSet>
      <dgm:spPr/>
    </dgm:pt>
    <dgm:pt modelId="{5AA6DC50-C15D-4F18-BDEC-5E6292A2921C}" type="pres">
      <dgm:prSet presAssocID="{D9DDEDC7-34EB-4C4B-8AEA-CC6EAF9D9059}" presName="sp" presStyleCnt="0"/>
      <dgm:spPr/>
    </dgm:pt>
    <dgm:pt modelId="{3807BEAB-83B6-4ABC-B5DE-A488C419E851}" type="pres">
      <dgm:prSet presAssocID="{AF861169-9C72-478F-BCE5-92B8FBCC6880}" presName="composite" presStyleCnt="0"/>
      <dgm:spPr/>
    </dgm:pt>
    <dgm:pt modelId="{0F56243A-7720-4C55-87A5-43E6B1306F6D}" type="pres">
      <dgm:prSet presAssocID="{AF861169-9C72-478F-BCE5-92B8FBCC6880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158D0886-A3C3-4E1E-8630-A23711D4ACB4}" type="pres">
      <dgm:prSet presAssocID="{AF861169-9C72-478F-BCE5-92B8FBCC6880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886C7D05-0C0A-4EFB-A7FE-5EF27E81F071}" srcId="{AF861169-9C72-478F-BCE5-92B8FBCC6880}" destId="{0F97A6EE-AAB0-42BB-8323-E664F3F8394D}" srcOrd="0" destOrd="0" parTransId="{974D5742-553D-415D-92FD-4E82EE7C40BA}" sibTransId="{7B00CD87-9AAB-40A3-9252-6265C6E82723}"/>
    <dgm:cxn modelId="{A2B54A65-E117-483D-A6B5-7DCE0D03944C}" type="presOf" srcId="{360D4908-0CEE-4E58-8A52-2620BBFDA817}" destId="{BF9A6BB7-C45F-414B-8B0B-7A401FFEBEC3}" srcOrd="0" destOrd="0" presId="urn:microsoft.com/office/officeart/2005/8/layout/chevron2"/>
    <dgm:cxn modelId="{1078E950-E70A-46DF-BE35-4F54D43F23FC}" srcId="{71F676C8-3F29-4176-BBF3-641BBF490007}" destId="{8A31F70C-A5DC-43E1-9CC5-31129334FF5B}" srcOrd="2" destOrd="0" parTransId="{2509159E-74BB-49F7-ADE2-1A27ECD2FEF3}" sibTransId="{D9DDEDC7-34EB-4C4B-8AEA-CC6EAF9D9059}"/>
    <dgm:cxn modelId="{819AF872-7A06-4FE2-815F-B613ECAD1607}" type="presOf" srcId="{71F676C8-3F29-4176-BBF3-641BBF490007}" destId="{81486CA6-24AD-40BB-85D7-2D64BB65C289}" srcOrd="0" destOrd="0" presId="urn:microsoft.com/office/officeart/2005/8/layout/chevron2"/>
    <dgm:cxn modelId="{26D84454-FCA2-455C-A80E-6603B8A98D11}" type="presOf" srcId="{AF861169-9C72-478F-BCE5-92B8FBCC6880}" destId="{0F56243A-7720-4C55-87A5-43E6B1306F6D}" srcOrd="0" destOrd="0" presId="urn:microsoft.com/office/officeart/2005/8/layout/chevron2"/>
    <dgm:cxn modelId="{B3F28E74-E281-4E7C-97F0-82E963F53B49}" type="presOf" srcId="{E0C361A8-06C9-4CAB-BF57-9BBA48827030}" destId="{7B6354EF-3D5A-4764-8FEC-4D070AB4E886}" srcOrd="0" destOrd="0" presId="urn:microsoft.com/office/officeart/2005/8/layout/chevron2"/>
    <dgm:cxn modelId="{5261B978-71CB-4786-9D64-CCEF284550D7}" type="presOf" srcId="{8A31F70C-A5DC-43E1-9CC5-31129334FF5B}" destId="{8C60F3D5-FAF2-4329-AEF7-84A05B532BCF}" srcOrd="0" destOrd="0" presId="urn:microsoft.com/office/officeart/2005/8/layout/chevron2"/>
    <dgm:cxn modelId="{A6D8EE7F-DE57-480C-ACA0-20B42402201D}" srcId="{8A31F70C-A5DC-43E1-9CC5-31129334FF5B}" destId="{E0C361A8-06C9-4CAB-BF57-9BBA48827030}" srcOrd="0" destOrd="0" parTransId="{01623E1D-988A-430B-88B6-12C8800AE59B}" sibTransId="{360E158B-E50B-4103-ADF7-CB1C0015AB43}"/>
    <dgm:cxn modelId="{DC5F7B93-68BE-4D80-8D44-D04B4A7F76BD}" srcId="{71F676C8-3F29-4176-BBF3-641BBF490007}" destId="{AF861169-9C72-478F-BCE5-92B8FBCC6880}" srcOrd="3" destOrd="0" parTransId="{A9FE36CD-CD86-4E70-B7E2-86B1A69A9544}" sibTransId="{22ACA049-0304-4B49-8B26-CF7E9FFA3831}"/>
    <dgm:cxn modelId="{BE5B6197-4612-483F-A7BE-303A25465304}" type="presOf" srcId="{458A0D2D-3C67-43EF-B222-DBC9FF779833}" destId="{A53EE3C6-1AF4-4585-A053-BD103B5F924F}" srcOrd="0" destOrd="0" presId="urn:microsoft.com/office/officeart/2005/8/layout/chevron2"/>
    <dgm:cxn modelId="{838457A0-93E0-450F-8519-D7D0D3393A15}" srcId="{71F676C8-3F29-4176-BBF3-641BBF490007}" destId="{360D4908-0CEE-4E58-8A52-2620BBFDA817}" srcOrd="0" destOrd="0" parTransId="{0B25BFA6-659C-4655-B42F-6AA2E9C8F90C}" sibTransId="{C25AA14C-2122-4DAD-9A2A-0FAAB9B2E6F9}"/>
    <dgm:cxn modelId="{48E2C2A1-6A41-44CD-B1D6-BA4C867D8064}" type="presOf" srcId="{0C2BF44A-8408-426C-B455-07BCBE5EA964}" destId="{46547F9C-0847-49BB-B4CD-5DFDD194C0A8}" srcOrd="0" destOrd="0" presId="urn:microsoft.com/office/officeart/2005/8/layout/chevron2"/>
    <dgm:cxn modelId="{F625CDA7-3DBA-41CA-80B1-8F422F7616FB}" type="presOf" srcId="{0F97A6EE-AAB0-42BB-8323-E664F3F8394D}" destId="{158D0886-A3C3-4E1E-8630-A23711D4ACB4}" srcOrd="0" destOrd="0" presId="urn:microsoft.com/office/officeart/2005/8/layout/chevron2"/>
    <dgm:cxn modelId="{8A48C8B2-970A-4983-B522-11B2AF105FE7}" srcId="{71F676C8-3F29-4176-BBF3-641BBF490007}" destId="{0C2BF44A-8408-426C-B455-07BCBE5EA964}" srcOrd="1" destOrd="0" parTransId="{10E9A276-70FC-40CF-BD4C-929CE0CF4D02}" sibTransId="{073BA679-E262-4164-8C3E-ADA4949C40AC}"/>
    <dgm:cxn modelId="{FCB3BCCE-CE4A-4D7E-B19C-ED2E78AF63A6}" type="presOf" srcId="{46703C00-6EB4-49B7-B162-106D4BDEFB35}" destId="{5F036F4C-FCCE-4A98-988F-59D7772080FB}" srcOrd="0" destOrd="0" presId="urn:microsoft.com/office/officeart/2005/8/layout/chevron2"/>
    <dgm:cxn modelId="{4D9DE1DB-ED3F-45AD-B104-9DD1E20A008B}" srcId="{0C2BF44A-8408-426C-B455-07BCBE5EA964}" destId="{46703C00-6EB4-49B7-B162-106D4BDEFB35}" srcOrd="0" destOrd="0" parTransId="{032E1E6A-85BE-462A-BD16-5E6029E68386}" sibTransId="{A6FB9AD5-3023-4212-86D3-45D8AC81CC6C}"/>
    <dgm:cxn modelId="{5FD261E1-8F46-48C6-80AC-7D5AE0446736}" srcId="{360D4908-0CEE-4E58-8A52-2620BBFDA817}" destId="{458A0D2D-3C67-43EF-B222-DBC9FF779833}" srcOrd="0" destOrd="0" parTransId="{43C7AFEF-77A0-4330-A70E-543B304CFB12}" sibTransId="{7B0615C1-CAB1-4F7F-91CB-C304E0253367}"/>
    <dgm:cxn modelId="{86258D88-4472-4BFC-90F1-726F319EBE92}" type="presParOf" srcId="{81486CA6-24AD-40BB-85D7-2D64BB65C289}" destId="{E1872329-B520-4C5F-960C-B83A18A30423}" srcOrd="0" destOrd="0" presId="urn:microsoft.com/office/officeart/2005/8/layout/chevron2"/>
    <dgm:cxn modelId="{9D7C82DF-DD31-4F5E-AEFE-99B1700774AD}" type="presParOf" srcId="{E1872329-B520-4C5F-960C-B83A18A30423}" destId="{BF9A6BB7-C45F-414B-8B0B-7A401FFEBEC3}" srcOrd="0" destOrd="0" presId="urn:microsoft.com/office/officeart/2005/8/layout/chevron2"/>
    <dgm:cxn modelId="{8EFFDA4B-727D-4C12-9DDC-2210FF9E53D2}" type="presParOf" srcId="{E1872329-B520-4C5F-960C-B83A18A30423}" destId="{A53EE3C6-1AF4-4585-A053-BD103B5F924F}" srcOrd="1" destOrd="0" presId="urn:microsoft.com/office/officeart/2005/8/layout/chevron2"/>
    <dgm:cxn modelId="{E204D9CC-ABF0-4EF3-AFF2-3A377104A750}" type="presParOf" srcId="{81486CA6-24AD-40BB-85D7-2D64BB65C289}" destId="{A7870B8C-2C1F-4542-9FE3-AB8F7D6558B5}" srcOrd="1" destOrd="0" presId="urn:microsoft.com/office/officeart/2005/8/layout/chevron2"/>
    <dgm:cxn modelId="{B08DBDEE-E41C-4EDD-BEB7-9D127446F587}" type="presParOf" srcId="{81486CA6-24AD-40BB-85D7-2D64BB65C289}" destId="{2D3E9E4C-3E19-4324-850F-8D9CF4C0DAED}" srcOrd="2" destOrd="0" presId="urn:microsoft.com/office/officeart/2005/8/layout/chevron2"/>
    <dgm:cxn modelId="{E426CCBC-52C4-4FA2-A037-F085FEB12155}" type="presParOf" srcId="{2D3E9E4C-3E19-4324-850F-8D9CF4C0DAED}" destId="{46547F9C-0847-49BB-B4CD-5DFDD194C0A8}" srcOrd="0" destOrd="0" presId="urn:microsoft.com/office/officeart/2005/8/layout/chevron2"/>
    <dgm:cxn modelId="{F94A8AE4-18B7-47DC-B520-826AD97D415E}" type="presParOf" srcId="{2D3E9E4C-3E19-4324-850F-8D9CF4C0DAED}" destId="{5F036F4C-FCCE-4A98-988F-59D7772080FB}" srcOrd="1" destOrd="0" presId="urn:microsoft.com/office/officeart/2005/8/layout/chevron2"/>
    <dgm:cxn modelId="{65A55798-CAE6-4007-A036-BCA586E70E90}" type="presParOf" srcId="{81486CA6-24AD-40BB-85D7-2D64BB65C289}" destId="{2C526D6F-F46D-4141-BEEA-253E92726C44}" srcOrd="3" destOrd="0" presId="urn:microsoft.com/office/officeart/2005/8/layout/chevron2"/>
    <dgm:cxn modelId="{7291E05A-C393-4C44-AD17-A49B9E8C2C96}" type="presParOf" srcId="{81486CA6-24AD-40BB-85D7-2D64BB65C289}" destId="{6B91A3B0-AB5A-4683-996F-FB82391BC623}" srcOrd="4" destOrd="0" presId="urn:microsoft.com/office/officeart/2005/8/layout/chevron2"/>
    <dgm:cxn modelId="{FA3763FE-2C38-415C-95CC-2A95FB5A33A5}" type="presParOf" srcId="{6B91A3B0-AB5A-4683-996F-FB82391BC623}" destId="{8C60F3D5-FAF2-4329-AEF7-84A05B532BCF}" srcOrd="0" destOrd="0" presId="urn:microsoft.com/office/officeart/2005/8/layout/chevron2"/>
    <dgm:cxn modelId="{E470EB10-2199-46EB-A8BE-3C3117AE5525}" type="presParOf" srcId="{6B91A3B0-AB5A-4683-996F-FB82391BC623}" destId="{7B6354EF-3D5A-4764-8FEC-4D070AB4E886}" srcOrd="1" destOrd="0" presId="urn:microsoft.com/office/officeart/2005/8/layout/chevron2"/>
    <dgm:cxn modelId="{863BAD3E-A57D-4C31-B710-EA96510FA6DB}" type="presParOf" srcId="{81486CA6-24AD-40BB-85D7-2D64BB65C289}" destId="{5AA6DC50-C15D-4F18-BDEC-5E6292A2921C}" srcOrd="5" destOrd="0" presId="urn:microsoft.com/office/officeart/2005/8/layout/chevron2"/>
    <dgm:cxn modelId="{B57A6B56-8A14-4094-BC38-AA2C2A95989B}" type="presParOf" srcId="{81486CA6-24AD-40BB-85D7-2D64BB65C289}" destId="{3807BEAB-83B6-4ABC-B5DE-A488C419E851}" srcOrd="6" destOrd="0" presId="urn:microsoft.com/office/officeart/2005/8/layout/chevron2"/>
    <dgm:cxn modelId="{E40185DE-60DD-4E94-A8E2-708C249D08A7}" type="presParOf" srcId="{3807BEAB-83B6-4ABC-B5DE-A488C419E851}" destId="{0F56243A-7720-4C55-87A5-43E6B1306F6D}" srcOrd="0" destOrd="0" presId="urn:microsoft.com/office/officeart/2005/8/layout/chevron2"/>
    <dgm:cxn modelId="{7F68B83D-6271-47E7-B2F1-B37CDA0E4EAD}" type="presParOf" srcId="{3807BEAB-83B6-4ABC-B5DE-A488C419E851}" destId="{158D0886-A3C3-4E1E-8630-A23711D4ACB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AF1760-BF6A-4E1E-87E1-FED55BE98E72}">
      <dsp:nvSpPr>
        <dsp:cNvPr id="0" name=""/>
        <dsp:cNvSpPr/>
      </dsp:nvSpPr>
      <dsp:spPr>
        <a:xfrm>
          <a:off x="7658" y="344224"/>
          <a:ext cx="2289116" cy="137347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rcRect/>
          <a:stretch>
            <a:fillRect l="-24000" r="-2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</dsp:txBody>
      <dsp:txXfrm>
        <a:off x="47886" y="384452"/>
        <a:ext cx="2208660" cy="1293014"/>
      </dsp:txXfrm>
    </dsp:sp>
    <dsp:sp modelId="{F3768969-AD10-4F93-8767-D4AC7C5AB18A}">
      <dsp:nvSpPr>
        <dsp:cNvPr id="0" name=""/>
        <dsp:cNvSpPr/>
      </dsp:nvSpPr>
      <dsp:spPr>
        <a:xfrm>
          <a:off x="2498218" y="747109"/>
          <a:ext cx="485292" cy="5677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2498218" y="860649"/>
        <a:ext cx="339704" cy="340621"/>
      </dsp:txXfrm>
    </dsp:sp>
    <dsp:sp modelId="{0EBB2A35-47A9-4BAD-9767-41CBD52B415F}">
      <dsp:nvSpPr>
        <dsp:cNvPr id="0" name=""/>
        <dsp:cNvSpPr/>
      </dsp:nvSpPr>
      <dsp:spPr>
        <a:xfrm>
          <a:off x="3212422" y="344224"/>
          <a:ext cx="2289116" cy="1373470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157221"/>
            <a:satOff val="-15413"/>
            <a:lumOff val="82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Preprocessing</a:t>
          </a:r>
          <a:endParaRPr lang="en-US" sz="2300" kern="1200" dirty="0"/>
        </a:p>
      </dsp:txBody>
      <dsp:txXfrm>
        <a:off x="3252650" y="384452"/>
        <a:ext cx="2208660" cy="1293014"/>
      </dsp:txXfrm>
    </dsp:sp>
    <dsp:sp modelId="{264A55A9-5B8B-4B60-B3B8-6F1C424CCEC9}">
      <dsp:nvSpPr>
        <dsp:cNvPr id="0" name=""/>
        <dsp:cNvSpPr/>
      </dsp:nvSpPr>
      <dsp:spPr>
        <a:xfrm>
          <a:off x="5702981" y="747109"/>
          <a:ext cx="485292" cy="5677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198007"/>
            <a:satOff val="-19139"/>
            <a:lumOff val="1002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5702981" y="860649"/>
        <a:ext cx="339704" cy="340621"/>
      </dsp:txXfrm>
    </dsp:sp>
    <dsp:sp modelId="{8808C65B-ED5F-4416-B31D-9AE1902E8332}">
      <dsp:nvSpPr>
        <dsp:cNvPr id="0" name=""/>
        <dsp:cNvSpPr/>
      </dsp:nvSpPr>
      <dsp:spPr>
        <a:xfrm>
          <a:off x="6417186" y="344224"/>
          <a:ext cx="2289116" cy="1373470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314442"/>
            <a:satOff val="-30826"/>
            <a:lumOff val="165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Graph Generation</a:t>
          </a:r>
          <a:endParaRPr lang="en-US" sz="2300" kern="1200" dirty="0"/>
        </a:p>
      </dsp:txBody>
      <dsp:txXfrm>
        <a:off x="6457414" y="384452"/>
        <a:ext cx="2208660" cy="1293014"/>
      </dsp:txXfrm>
    </dsp:sp>
    <dsp:sp modelId="{47E6D5E7-A5ED-4FCB-921D-4D02F00C9C6B}">
      <dsp:nvSpPr>
        <dsp:cNvPr id="0" name=""/>
        <dsp:cNvSpPr/>
      </dsp:nvSpPr>
      <dsp:spPr>
        <a:xfrm rot="5400000">
          <a:off x="7319098" y="1877932"/>
          <a:ext cx="485292" cy="5677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396014"/>
            <a:satOff val="-38278"/>
            <a:lumOff val="2004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-5400000">
        <a:off x="7391434" y="1919136"/>
        <a:ext cx="340621" cy="339704"/>
      </dsp:txXfrm>
    </dsp:sp>
    <dsp:sp modelId="{C4094E4B-9DAF-4573-9357-3B8EE51E4CF1}">
      <dsp:nvSpPr>
        <dsp:cNvPr id="0" name=""/>
        <dsp:cNvSpPr/>
      </dsp:nvSpPr>
      <dsp:spPr>
        <a:xfrm>
          <a:off x="6417186" y="2633341"/>
          <a:ext cx="2289116" cy="1373470"/>
        </a:xfrm>
        <a:prstGeom prst="roundRect">
          <a:avLst>
            <a:gd name="adj" fmla="val 10000"/>
          </a:avLst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Clustering</a:t>
          </a:r>
          <a:endParaRPr lang="en-US" sz="2300" kern="1200" dirty="0"/>
        </a:p>
      </dsp:txBody>
      <dsp:txXfrm>
        <a:off x="6457414" y="2673569"/>
        <a:ext cx="2208660" cy="1293014"/>
      </dsp:txXfrm>
    </dsp:sp>
    <dsp:sp modelId="{6C63E4E0-0BAA-49F9-BEE6-BFF28749BB12}">
      <dsp:nvSpPr>
        <dsp:cNvPr id="0" name=""/>
        <dsp:cNvSpPr/>
      </dsp:nvSpPr>
      <dsp:spPr>
        <a:xfrm rot="10800000">
          <a:off x="5730451" y="3036225"/>
          <a:ext cx="485292" cy="5677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594020"/>
            <a:satOff val="-57418"/>
            <a:lumOff val="3007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 rot="10800000">
        <a:off x="5876039" y="3149765"/>
        <a:ext cx="339704" cy="340621"/>
      </dsp:txXfrm>
    </dsp:sp>
    <dsp:sp modelId="{B267516A-7D3A-44DD-AE18-22B3F7A6AA86}">
      <dsp:nvSpPr>
        <dsp:cNvPr id="0" name=""/>
        <dsp:cNvSpPr/>
      </dsp:nvSpPr>
      <dsp:spPr>
        <a:xfrm>
          <a:off x="3212422" y="2633341"/>
          <a:ext cx="2289116" cy="1373470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628884"/>
            <a:satOff val="-61652"/>
            <a:lumOff val="3314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Visualization</a:t>
          </a:r>
          <a:endParaRPr lang="en-US" sz="2300" kern="1200" dirty="0"/>
        </a:p>
      </dsp:txBody>
      <dsp:txXfrm>
        <a:off x="3252650" y="2673569"/>
        <a:ext cx="2208660" cy="1293014"/>
      </dsp:txXfrm>
    </dsp:sp>
    <dsp:sp modelId="{879CB0CB-8104-4221-9D01-D003D67D9107}">
      <dsp:nvSpPr>
        <dsp:cNvPr id="0" name=""/>
        <dsp:cNvSpPr/>
      </dsp:nvSpPr>
      <dsp:spPr>
        <a:xfrm rot="10812223">
          <a:off x="2608540" y="3030768"/>
          <a:ext cx="426744" cy="5677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792027"/>
            <a:satOff val="-76557"/>
            <a:lumOff val="4009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10800000">
        <a:off x="2736563" y="3144536"/>
        <a:ext cx="298721" cy="340621"/>
      </dsp:txXfrm>
    </dsp:sp>
    <dsp:sp modelId="{C3D4B425-DE0F-41D4-98DF-2F92028459CF}">
      <dsp:nvSpPr>
        <dsp:cNvPr id="0" name=""/>
        <dsp:cNvSpPr/>
      </dsp:nvSpPr>
      <dsp:spPr>
        <a:xfrm>
          <a:off x="118131" y="2622339"/>
          <a:ext cx="2289116" cy="1373470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 dirty="0"/>
        </a:p>
      </dsp:txBody>
      <dsp:txXfrm>
        <a:off x="158359" y="2662567"/>
        <a:ext cx="2208660" cy="12930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9A6BB7-C45F-414B-8B0B-7A401FFEBEC3}">
      <dsp:nvSpPr>
        <dsp:cNvPr id="0" name=""/>
        <dsp:cNvSpPr/>
      </dsp:nvSpPr>
      <dsp:spPr>
        <a:xfrm rot="5400000">
          <a:off x="-183768" y="186272"/>
          <a:ext cx="1225120" cy="857584"/>
        </a:xfrm>
        <a:prstGeom prst="chevron">
          <a:avLst/>
        </a:prstGeom>
        <a:solidFill>
          <a:schemeClr val="accent1">
            <a:lumMod val="20000"/>
            <a:lumOff val="8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1" kern="1200" dirty="0">
              <a:solidFill>
                <a:schemeClr val="tx1"/>
              </a:solidFill>
            </a:rPr>
            <a:t>Problem</a:t>
          </a:r>
          <a:endParaRPr lang="en-US" sz="1600" b="1" kern="1200" dirty="0">
            <a:solidFill>
              <a:schemeClr val="tx1"/>
            </a:solidFill>
          </a:endParaRPr>
        </a:p>
      </dsp:txBody>
      <dsp:txXfrm rot="-5400000">
        <a:off x="0" y="431296"/>
        <a:ext cx="857584" cy="367536"/>
      </dsp:txXfrm>
    </dsp:sp>
    <dsp:sp modelId="{A53EE3C6-1AF4-4585-A053-BD103B5F924F}">
      <dsp:nvSpPr>
        <dsp:cNvPr id="0" name=""/>
        <dsp:cNvSpPr/>
      </dsp:nvSpPr>
      <dsp:spPr>
        <a:xfrm rot="5400000">
          <a:off x="4423116" y="-3563027"/>
          <a:ext cx="796328" cy="792739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kern="1200" dirty="0">
              <a:solidFill>
                <a:schemeClr val="tx1"/>
              </a:solidFill>
            </a:rPr>
            <a:t>Lack of integration of semantic attributes and poor spatial coherence.</a:t>
          </a:r>
          <a:endParaRPr lang="en-US" sz="2200" kern="1200" dirty="0">
            <a:solidFill>
              <a:schemeClr val="tx1"/>
            </a:solidFill>
          </a:endParaRPr>
        </a:p>
      </dsp:txBody>
      <dsp:txXfrm rot="-5400000">
        <a:off x="857585" y="41378"/>
        <a:ext cx="7888517" cy="718580"/>
      </dsp:txXfrm>
    </dsp:sp>
    <dsp:sp modelId="{46547F9C-0847-49BB-B4CD-5DFDD194C0A8}">
      <dsp:nvSpPr>
        <dsp:cNvPr id="0" name=""/>
        <dsp:cNvSpPr/>
      </dsp:nvSpPr>
      <dsp:spPr>
        <a:xfrm rot="5400000">
          <a:off x="-183768" y="1264394"/>
          <a:ext cx="1225120" cy="857584"/>
        </a:xfrm>
        <a:prstGeom prst="chevron">
          <a:avLst/>
        </a:prstGeom>
        <a:solidFill>
          <a:schemeClr val="accent1">
            <a:lumMod val="20000"/>
            <a:lumOff val="8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1" kern="1200" dirty="0">
              <a:solidFill>
                <a:schemeClr val="tx1"/>
              </a:solidFill>
            </a:rPr>
            <a:t>Idea</a:t>
          </a:r>
          <a:endParaRPr lang="en-US" sz="1600" b="1" kern="1200" dirty="0">
            <a:solidFill>
              <a:schemeClr val="tx1"/>
            </a:solidFill>
          </a:endParaRPr>
        </a:p>
      </dsp:txBody>
      <dsp:txXfrm rot="-5400000">
        <a:off x="0" y="1509418"/>
        <a:ext cx="857584" cy="367536"/>
      </dsp:txXfrm>
    </dsp:sp>
    <dsp:sp modelId="{5F036F4C-FCCE-4A98-988F-59D7772080FB}">
      <dsp:nvSpPr>
        <dsp:cNvPr id="0" name=""/>
        <dsp:cNvSpPr/>
      </dsp:nvSpPr>
      <dsp:spPr>
        <a:xfrm rot="5400000">
          <a:off x="4423116" y="-2484905"/>
          <a:ext cx="796328" cy="792739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kern="1200" dirty="0">
              <a:solidFill>
                <a:schemeClr val="tx1"/>
              </a:solidFill>
            </a:rPr>
            <a:t>Adapt the DBSC algorithm to include both geometric proximity and population similarity. </a:t>
          </a:r>
          <a:endParaRPr lang="en-US" sz="2200" kern="1200" dirty="0">
            <a:solidFill>
              <a:schemeClr val="tx1"/>
            </a:solidFill>
          </a:endParaRPr>
        </a:p>
      </dsp:txBody>
      <dsp:txXfrm rot="-5400000">
        <a:off x="857585" y="1119500"/>
        <a:ext cx="7888517" cy="718580"/>
      </dsp:txXfrm>
    </dsp:sp>
    <dsp:sp modelId="{8C60F3D5-FAF2-4329-AEF7-84A05B532BCF}">
      <dsp:nvSpPr>
        <dsp:cNvPr id="0" name=""/>
        <dsp:cNvSpPr/>
      </dsp:nvSpPr>
      <dsp:spPr>
        <a:xfrm rot="5400000">
          <a:off x="-183768" y="2342517"/>
          <a:ext cx="1225120" cy="857584"/>
        </a:xfrm>
        <a:prstGeom prst="chevron">
          <a:avLst/>
        </a:prstGeom>
        <a:solidFill>
          <a:schemeClr val="accent1">
            <a:lumMod val="20000"/>
            <a:lumOff val="8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1" kern="1200" dirty="0">
              <a:solidFill>
                <a:schemeClr val="tx1"/>
              </a:solidFill>
            </a:rPr>
            <a:t>Benefits</a:t>
          </a:r>
          <a:endParaRPr lang="en-US" sz="1600" b="1" kern="1200" dirty="0">
            <a:solidFill>
              <a:schemeClr val="tx1"/>
            </a:solidFill>
          </a:endParaRPr>
        </a:p>
      </dsp:txBody>
      <dsp:txXfrm rot="-5400000">
        <a:off x="0" y="2587541"/>
        <a:ext cx="857584" cy="367536"/>
      </dsp:txXfrm>
    </dsp:sp>
    <dsp:sp modelId="{7B6354EF-3D5A-4764-8FEC-4D070AB4E886}">
      <dsp:nvSpPr>
        <dsp:cNvPr id="0" name=""/>
        <dsp:cNvSpPr/>
      </dsp:nvSpPr>
      <dsp:spPr>
        <a:xfrm rot="5400000">
          <a:off x="4423116" y="-1406782"/>
          <a:ext cx="796328" cy="792739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 typeface="Arial" panose="020B0604020202020204" pitchFamily="34" charset="0"/>
            <a:buChar char="•"/>
          </a:pPr>
          <a:r>
            <a:rPr lang="en-US" sz="2200" b="0" kern="1200" dirty="0">
              <a:solidFill>
                <a:schemeClr val="tx1"/>
              </a:solidFill>
            </a:rPr>
            <a:t>Produces more compact and semantically meaningful urban clusters that better reflect real-world settlement patterns.</a:t>
          </a:r>
          <a:endParaRPr lang="en-US" sz="2200" kern="1200" dirty="0">
            <a:solidFill>
              <a:schemeClr val="tx1"/>
            </a:solidFill>
          </a:endParaRPr>
        </a:p>
      </dsp:txBody>
      <dsp:txXfrm rot="-5400000">
        <a:off x="857585" y="2197623"/>
        <a:ext cx="7888517" cy="718580"/>
      </dsp:txXfrm>
    </dsp:sp>
    <dsp:sp modelId="{0F56243A-7720-4C55-87A5-43E6B1306F6D}">
      <dsp:nvSpPr>
        <dsp:cNvPr id="0" name=""/>
        <dsp:cNvSpPr/>
      </dsp:nvSpPr>
      <dsp:spPr>
        <a:xfrm rot="5400000">
          <a:off x="-183768" y="3420639"/>
          <a:ext cx="1225120" cy="857584"/>
        </a:xfrm>
        <a:prstGeom prst="chevron">
          <a:avLst/>
        </a:prstGeom>
        <a:solidFill>
          <a:schemeClr val="accent1">
            <a:lumMod val="20000"/>
            <a:lumOff val="8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1" kern="1200" dirty="0">
              <a:solidFill>
                <a:schemeClr val="tx1"/>
              </a:solidFill>
            </a:rPr>
            <a:t>Action</a:t>
          </a:r>
          <a:endParaRPr lang="en-US" sz="1600" b="1" kern="1200" dirty="0">
            <a:solidFill>
              <a:schemeClr val="tx1"/>
            </a:solidFill>
          </a:endParaRPr>
        </a:p>
      </dsp:txBody>
      <dsp:txXfrm rot="-5400000">
        <a:off x="0" y="3665663"/>
        <a:ext cx="857584" cy="367536"/>
      </dsp:txXfrm>
    </dsp:sp>
    <dsp:sp modelId="{158D0886-A3C3-4E1E-8630-A23711D4ACB4}">
      <dsp:nvSpPr>
        <dsp:cNvPr id="0" name=""/>
        <dsp:cNvSpPr/>
      </dsp:nvSpPr>
      <dsp:spPr>
        <a:xfrm rot="5400000">
          <a:off x="4423116" y="-328660"/>
          <a:ext cx="796328" cy="792739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 typeface="Arial" panose="020B0604020202020204" pitchFamily="34" charset="0"/>
            <a:buChar char="•"/>
          </a:pPr>
          <a:r>
            <a:rPr lang="en-US" sz="2200" b="0" kern="1200" dirty="0">
              <a:solidFill>
                <a:schemeClr val="tx1"/>
              </a:solidFill>
            </a:rPr>
            <a:t>Implement the new clustering approach within the existing geospatial pipeline, evaluate with spatial metrics. </a:t>
          </a:r>
          <a:endParaRPr lang="en-US" sz="2200" kern="1200" dirty="0">
            <a:solidFill>
              <a:schemeClr val="tx1"/>
            </a:solidFill>
          </a:endParaRPr>
        </a:p>
      </dsp:txBody>
      <dsp:txXfrm rot="-5400000">
        <a:off x="857585" y="3275745"/>
        <a:ext cx="7888517" cy="7185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13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485"/>
            <a:ext cx="2946400" cy="49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13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78485"/>
            <a:ext cx="2946400" cy="49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itchFamily="18" charset="0"/>
              </a:defRPr>
            </a:lvl1pPr>
          </a:lstStyle>
          <a:p>
            <a:fld id="{66D17C0D-3159-464E-A332-7C83698A29E4}" type="slidenum">
              <a:rPr lang="en-US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40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2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defTabSz="955675" eaLnBrk="1" hangingPunct="1">
              <a:defRPr sz="13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2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algn="r" defTabSz="955675" eaLnBrk="1" hangingPunct="1">
              <a:defRPr sz="13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9538" y="741363"/>
            <a:ext cx="6580187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689243"/>
            <a:ext cx="4984750" cy="4442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Klicken Sie, um die Formate des Vorlagentextes zu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81643"/>
            <a:ext cx="2946400" cy="492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defTabSz="955675" eaLnBrk="1" hangingPunct="1">
              <a:defRPr sz="13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381643"/>
            <a:ext cx="2946400" cy="492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defTabSz="955675" eaLnBrk="1" hangingPunct="1">
              <a:defRPr sz="1300" b="0">
                <a:latin typeface="Times New Roman" pitchFamily="18" charset="0"/>
              </a:defRPr>
            </a:lvl1pPr>
          </a:lstStyle>
          <a:p>
            <a:fld id="{412C2970-D838-4E16-9F7E-5362C8D6E639}" type="slidenum">
              <a:rPr lang="en-US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214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Hybrid, Density-based Clustering Approach for Spatial Settlement Graphs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C2970-D838-4E16-9F7E-5362C8D6E63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252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Urban areas are very important for economic growth and technological innovation</a:t>
            </a:r>
            <a:b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problem raised with spatial compactness in 1, big green</a:t>
            </a: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problem with settlements forming a chain within one cluster</a:t>
            </a: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can lead to misrepresentations of urban density and connectivity, and urban planning outcomes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C2970-D838-4E16-9F7E-5362C8D6E63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33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Density-based spatial clustering of applications with noise </a:t>
            </a: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Gaussian Mixture Model, probabilistic, It models the data distribution as a weighted sum of Gaussian component densities, probabilistic nature. </a:t>
            </a: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Spectral clustering uses the eigenvalues of a graph Laplacian to project data into a k-dimensional spectral space before applying a standard clustering algorithm, </a:t>
            </a:r>
            <a:r>
              <a:rPr lang="en-US" sz="1800" b="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does not differentiate noise. </a:t>
            </a: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Current graph-based framework is less prone to compactness of the clusters</a:t>
            </a:r>
            <a:endParaRPr lang="en-US" sz="1800" b="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Density-based spatial clustering algorithm 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C2970-D838-4E16-9F7E-5362C8D6E63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349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Construction of spatial neighborhood </a:t>
            </a: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Computation of density indicator and determination of an average threshold T. </a:t>
            </a:r>
            <a:r>
              <a:rPr lang="en-US" sz="2800" dirty="0"/>
              <a:t>A density indicator is employed to measure the ‘density’ of an object with a given threshold T. 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Implementation of spatial clustering is carried out, where </a:t>
            </a:r>
            <a:r>
              <a:rPr lang="en-US" dirty="0"/>
              <a:t>the algorithm iteratively adds reachable objects that meet both spatial and attribute similarity criteria until no more can be included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C2970-D838-4E16-9F7E-5362C8D6E63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442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alternative clustering algorithms, such as DBSC</a:t>
            </a:r>
          </a:p>
          <a:p>
            <a:pPr marL="228600" indent="-228600">
              <a:buAutoNum type="arabicPeriod"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effectively integrated into the existing graph-based settlement delineation framework</a:t>
            </a:r>
          </a:p>
          <a:p>
            <a:pPr marL="228600" indent="-228600">
              <a:buAutoNum type="arabicPeriod"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evaluation methods can be employed 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C2970-D838-4E16-9F7E-5362C8D6E63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48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preprocessing steps, such as filtering and polygon distance calculation</a:t>
            </a: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graph with the required spatial data  as an input for clustering, my focus is on clustering</a:t>
            </a: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visualization stage is taking place using cluster attributes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C2970-D838-4E16-9F7E-5362C8D6E63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83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spatial term used to evaluate the shape and cohesion of a cluster</a:t>
            </a: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connectivity, which describes the stability and integrity of a graph’s structure</a:t>
            </a: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 asks minimum how many elements can be removed from the graph, so that a subgraph can be formed. 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C2970-D838-4E16-9F7E-5362C8D6E63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779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large amount of geographic data computing resources can be limited - use remote servers with higher processing capabilities</a:t>
            </a: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 cases where an insufficient number of qualified experts can be consulted to provide objectively reliable feedback 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C2970-D838-4E16-9F7E-5362C8D6E63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796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lack of integration of semantic attributes and poor spatial coherence</a:t>
            </a: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adapt the DBSC algorithm to include geometric proximity and population similarity </a:t>
            </a: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more compact and semantically meaningful urban clusters, which can be beneficial in real-world settlement analysis and improve </a:t>
            </a:r>
          </a:p>
          <a:p>
            <a:r>
              <a:rPr lang="en-US" dirty="0"/>
              <a:t>- urban planning, resource allocation, and environmental management</a:t>
            </a: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Implement the new clustering approach within the existing geospatial pipeline and evaluate with spatial metrics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C2970-D838-4E16-9F7E-5362C8D6E63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587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57" name="Picture 9" descr="unilogo4c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0" y="279075"/>
            <a:ext cx="12192000" cy="951399"/>
          </a:xfrm>
          <a:prstGeom prst="rect">
            <a:avLst/>
          </a:prstGeom>
          <a:noFill/>
        </p:spPr>
      </p:pic>
      <p:sp>
        <p:nvSpPr>
          <p:cNvPr id="181253" name="Rectangle 5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1805232" y="4693478"/>
            <a:ext cx="8534400" cy="1471826"/>
          </a:xfrm>
        </p:spPr>
        <p:txBody>
          <a:bodyPr lIns="91440" tIns="45720" rIns="91440" bIns="45720"/>
          <a:lstStyle>
            <a:lvl1pPr marL="0" indent="0" algn="ctr">
              <a:buFont typeface="Wingdings 3" pitchFamily="18" charset="2"/>
              <a:buNone/>
              <a:defRPr b="0" baseline="0">
                <a:solidFill>
                  <a:schemeClr val="tx1"/>
                </a:solidFill>
              </a:defRPr>
            </a:lvl1pPr>
          </a:lstStyle>
          <a:p>
            <a:r>
              <a:rPr lang="en-US" kern="0" dirty="0"/>
              <a:t>Author</a:t>
            </a:r>
          </a:p>
          <a:p>
            <a:r>
              <a:rPr lang="de-DE" kern="0" dirty="0" err="1"/>
              <a:t>Advisor</a:t>
            </a:r>
            <a:r>
              <a:rPr lang="de-DE" kern="0" dirty="0"/>
              <a:t>:</a:t>
            </a:r>
            <a:r>
              <a:rPr lang="de-DE" kern="0" baseline="0" dirty="0"/>
              <a:t> Betreuer</a:t>
            </a:r>
          </a:p>
          <a:p>
            <a:r>
              <a:rPr lang="de-DE" kern="0" dirty="0"/>
              <a:t>01.01.2019</a:t>
            </a:r>
          </a:p>
        </p:txBody>
      </p:sp>
      <p:sp>
        <p:nvSpPr>
          <p:cNvPr id="181255" name="Text Box 7"/>
          <p:cNvSpPr txBox="1">
            <a:spLocks noChangeArrowheads="1"/>
          </p:cNvSpPr>
          <p:nvPr/>
        </p:nvSpPr>
        <p:spPr bwMode="auto">
          <a:xfrm>
            <a:off x="1871532" y="6237313"/>
            <a:ext cx="8640233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de-DE" sz="2000" i="1" dirty="0">
                <a:solidFill>
                  <a:srgbClr val="777777"/>
                </a:solidFill>
                <a:latin typeface="Arial" charset="0"/>
              </a:rPr>
              <a:t>https://se.informatik.uni-wuerzburg.de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" y="6921631"/>
            <a:ext cx="2370119" cy="313200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443691" y="6921631"/>
            <a:ext cx="2370119" cy="313200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887379" y="6921631"/>
            <a:ext cx="2370108" cy="313200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358581" y="6921631"/>
            <a:ext cx="2370119" cy="313200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837285" y="6921631"/>
            <a:ext cx="2345911" cy="313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328" y="333585"/>
            <a:ext cx="2460862" cy="806006"/>
          </a:xfrm>
          <a:prstGeom prst="rect">
            <a:avLst/>
          </a:prstGeom>
        </p:spPr>
      </p:pic>
      <p:sp>
        <p:nvSpPr>
          <p:cNvPr id="18" name="Rectangle 5"/>
          <p:cNvSpPr txBox="1">
            <a:spLocks noChangeArrowheads="1"/>
          </p:cNvSpPr>
          <p:nvPr userDrawn="1"/>
        </p:nvSpPr>
        <p:spPr bwMode="auto">
          <a:xfrm>
            <a:off x="1805232" y="3979890"/>
            <a:ext cx="8534400" cy="42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ts val="1200"/>
              </a:spcBef>
              <a:spcAft>
                <a:spcPts val="600"/>
              </a:spcAft>
              <a:buClr>
                <a:srgbClr val="063D79"/>
              </a:buClr>
              <a:buSzPct val="80000"/>
              <a:buFont typeface="Wingdings 3" pitchFamily="18" charset="2"/>
              <a:buNone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SzPct val="100000"/>
              <a:buFont typeface="Wingdings" panose="05000000000000000000" pitchFamily="2" charset="2"/>
              <a:buChar char="Ø"/>
              <a:defRPr sz="1800">
                <a:solidFill>
                  <a:srgbClr val="4D4D4D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Char char="–"/>
              <a:defRPr sz="1600">
                <a:solidFill>
                  <a:srgbClr val="4D4D4D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Font typeface="Wingdings" panose="05000000000000000000" pitchFamily="2" charset="2"/>
              <a:buChar char="§"/>
              <a:defRPr sz="1600">
                <a:solidFill>
                  <a:srgbClr val="4D4D4D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Char char=" "/>
              <a:defRPr sz="1600">
                <a:solidFill>
                  <a:srgbClr val="4D4D4D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r>
              <a:rPr lang="de-DE" sz="2000" kern="0" dirty="0"/>
              <a:t>Bachelor Thesis </a:t>
            </a:r>
            <a:r>
              <a:rPr lang="de-DE" sz="2000" kern="0" dirty="0" err="1"/>
              <a:t>Proposal</a:t>
            </a:r>
            <a:endParaRPr lang="de-DE" sz="2000" kern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2AF5473-FA97-4FF8-9493-647C35A70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8422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4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_No Breadcrum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19670" y="908720"/>
            <a:ext cx="10657417" cy="5184576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Ø"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en-GB" dirty="0"/>
              <a:t>Zweite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78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_Breadcrum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19670" y="984052"/>
            <a:ext cx="10657417" cy="5109244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Ø"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en-GB" dirty="0"/>
              <a:t>Zweite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882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914400"/>
            <a:ext cx="52324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914400"/>
            <a:ext cx="52324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12200" y="30168"/>
            <a:ext cx="2667000" cy="5989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1200" y="30168"/>
            <a:ext cx="7797800" cy="598963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gi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56" name="Rectangle 32"/>
          <p:cNvSpPr>
            <a:spLocks noChangeArrowheads="1"/>
          </p:cNvSpPr>
          <p:nvPr/>
        </p:nvSpPr>
        <p:spPr bwMode="auto">
          <a:xfrm>
            <a:off x="814917" y="6237288"/>
            <a:ext cx="11377083" cy="620712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90980"/>
                  <a:invGamma/>
                </a:schemeClr>
              </a:gs>
            </a:gsLst>
            <a:lin ang="0" scaled="1"/>
          </a:gra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de-DE" sz="1400" dirty="0"/>
          </a:p>
        </p:txBody>
      </p:sp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9670" y="30163"/>
            <a:ext cx="10657417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err="1"/>
              <a:t>Klicken</a:t>
            </a:r>
            <a:r>
              <a:rPr lang="en-GB" dirty="0"/>
              <a:t> um das </a:t>
            </a:r>
            <a:r>
              <a:rPr lang="en-GB" dirty="0" err="1"/>
              <a:t>Titelformat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914400"/>
            <a:ext cx="106680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Klicken </a:t>
            </a:r>
            <a:r>
              <a:rPr lang="en-GB" dirty="0" err="1"/>
              <a:t>Sie</a:t>
            </a:r>
            <a:r>
              <a:rPr lang="en-GB" dirty="0"/>
              <a:t>, um die </a:t>
            </a:r>
            <a:r>
              <a:rPr lang="en-GB" dirty="0" err="1"/>
              <a:t>Formate</a:t>
            </a:r>
            <a:r>
              <a:rPr lang="en-GB" dirty="0"/>
              <a:t> des </a:t>
            </a:r>
            <a:r>
              <a:rPr lang="en-GB" dirty="0" err="1"/>
              <a:t>Vorlagentextes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/>
              <a:t>Zweite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4"/>
            <a:r>
              <a:rPr lang="en-GB" dirty="0" err="1"/>
              <a:t>Fünfte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180249" name="Rectangle 25"/>
          <p:cNvSpPr>
            <a:spLocks noChangeArrowheads="1"/>
          </p:cNvSpPr>
          <p:nvPr/>
        </p:nvSpPr>
        <p:spPr bwMode="auto">
          <a:xfrm>
            <a:off x="4442037" y="6584950"/>
            <a:ext cx="3286144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 sz="1200" b="0" i="1" dirty="0">
                <a:latin typeface="+mn-lt"/>
              </a:rPr>
              <a:t>Hripsime Sarkisyan</a:t>
            </a:r>
          </a:p>
        </p:txBody>
      </p:sp>
      <p:sp>
        <p:nvSpPr>
          <p:cNvPr id="180254" name="Line 30"/>
          <p:cNvSpPr>
            <a:spLocks noChangeShapeType="1"/>
          </p:cNvSpPr>
          <p:nvPr/>
        </p:nvSpPr>
        <p:spPr bwMode="auto">
          <a:xfrm flipV="1">
            <a:off x="175685" y="692150"/>
            <a:ext cx="11808883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de-DE" sz="1400"/>
          </a:p>
        </p:txBody>
      </p:sp>
      <p:sp>
        <p:nvSpPr>
          <p:cNvPr id="180258" name="Text Box 34"/>
          <p:cNvSpPr txBox="1">
            <a:spLocks noChangeArrowheads="1"/>
          </p:cNvSpPr>
          <p:nvPr/>
        </p:nvSpPr>
        <p:spPr bwMode="auto">
          <a:xfrm>
            <a:off x="11630247" y="6409070"/>
            <a:ext cx="381836" cy="2769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r"/>
            <a:fld id="{AA316C04-7673-4CAB-99E0-6C1D8F626C8B}" type="slidenum">
              <a:rPr lang="de-DE" sz="1200" b="0">
                <a:solidFill>
                  <a:schemeClr val="tx1"/>
                </a:solidFill>
              </a:rPr>
              <a:pPr algn="r"/>
              <a:t>‹Nr.›</a:t>
            </a:fld>
            <a:endParaRPr lang="de-DE" sz="1200" b="0" dirty="0">
              <a:solidFill>
                <a:schemeClr val="tx1"/>
              </a:solidFill>
            </a:endParaRPr>
          </a:p>
        </p:txBody>
      </p:sp>
      <p:sp>
        <p:nvSpPr>
          <p:cNvPr id="10" name="Rectangle 25"/>
          <p:cNvSpPr>
            <a:spLocks noChangeArrowheads="1"/>
          </p:cNvSpPr>
          <p:nvPr userDrawn="1"/>
        </p:nvSpPr>
        <p:spPr bwMode="auto">
          <a:xfrm>
            <a:off x="1709653" y="6237138"/>
            <a:ext cx="8750915" cy="34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sz="1400" b="0" i="0" kern="1200" dirty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t>A Hybrid, Density-based Clustering Approach for Spatial Settlement Graphs</a:t>
            </a:r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" y="6921631"/>
            <a:ext cx="2370119" cy="313200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2443691" y="6921631"/>
            <a:ext cx="2370119" cy="313200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4887379" y="6921631"/>
            <a:ext cx="2370108" cy="313200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358581" y="6921631"/>
            <a:ext cx="2370119" cy="313200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837285" y="6921631"/>
            <a:ext cx="2345911" cy="3132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6234611"/>
            <a:ext cx="623389" cy="62338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54" r:id="rId2"/>
    <p:sldLayoutId id="2147483664" r:id="rId3"/>
    <p:sldLayoutId id="2147483667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9pPr>
    </p:titleStyle>
    <p:bodyStyle>
      <a:lvl1pPr marL="0" indent="0" algn="l" rtl="0" eaLnBrk="1" fontAlgn="base" hangingPunct="1">
        <a:spcBef>
          <a:spcPts val="1200"/>
        </a:spcBef>
        <a:spcAft>
          <a:spcPts val="600"/>
        </a:spcAft>
        <a:buClr>
          <a:srgbClr val="063D79"/>
        </a:buClr>
        <a:buSzPct val="80000"/>
        <a:buFontTx/>
        <a:buNone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ts val="600"/>
        </a:spcBef>
        <a:spcAft>
          <a:spcPts val="600"/>
        </a:spcAft>
        <a:buClr>
          <a:srgbClr val="063D79"/>
        </a:buClr>
        <a:buSzPct val="100000"/>
        <a:buFont typeface="Wingdings" panose="05000000000000000000" pitchFamily="2" charset="2"/>
        <a:buChar char="Ø"/>
        <a:defRPr sz="1800">
          <a:solidFill>
            <a:schemeClr val="tx2"/>
          </a:solidFill>
          <a:latin typeface="+mn-lt"/>
        </a:defRPr>
      </a:lvl2pPr>
      <a:lvl3pPr marL="1143000" indent="-228600" algn="l" rtl="0" eaLnBrk="1" fontAlgn="base" hangingPunct="1">
        <a:spcBef>
          <a:spcPts val="600"/>
        </a:spcBef>
        <a:spcAft>
          <a:spcPts val="600"/>
        </a:spcAft>
        <a:buClr>
          <a:srgbClr val="063D79"/>
        </a:buClr>
        <a:buChar char="–"/>
        <a:defRPr sz="1600">
          <a:solidFill>
            <a:schemeClr val="tx2"/>
          </a:solidFill>
          <a:latin typeface="+mn-lt"/>
        </a:defRPr>
      </a:lvl3pPr>
      <a:lvl4pPr marL="1562100" indent="-228600" algn="l" rtl="0" eaLnBrk="1" fontAlgn="base" hangingPunct="1">
        <a:spcBef>
          <a:spcPts val="600"/>
        </a:spcBef>
        <a:spcAft>
          <a:spcPts val="600"/>
        </a:spcAft>
        <a:buClr>
          <a:srgbClr val="063D79"/>
        </a:buClr>
        <a:buFont typeface="Wingdings" panose="05000000000000000000" pitchFamily="2" charset="2"/>
        <a:buChar char="§"/>
        <a:defRPr sz="1600">
          <a:solidFill>
            <a:schemeClr val="tx2"/>
          </a:solidFill>
          <a:latin typeface="+mn-lt"/>
        </a:defRPr>
      </a:lvl4pPr>
      <a:lvl5pPr marL="1981200" indent="-228600" algn="l" rtl="0" eaLnBrk="1" fontAlgn="base" hangingPunct="1">
        <a:spcBef>
          <a:spcPts val="600"/>
        </a:spcBef>
        <a:spcAft>
          <a:spcPts val="600"/>
        </a:spcAft>
        <a:buClr>
          <a:srgbClr val="063D79"/>
        </a:buClr>
        <a:buChar char=" "/>
        <a:defRPr sz="1600">
          <a:solidFill>
            <a:schemeClr val="tx2"/>
          </a:solidFill>
          <a:latin typeface="+mn-lt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buChar char=" "/>
        <a:defRPr sz="2000">
          <a:solidFill>
            <a:srgbClr val="4D4D4D"/>
          </a:solidFill>
          <a:latin typeface="+mn-lt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buChar char=" "/>
        <a:defRPr sz="2000">
          <a:solidFill>
            <a:srgbClr val="4D4D4D"/>
          </a:solidFill>
          <a:latin typeface="+mn-lt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buChar char=" "/>
        <a:defRPr sz="2000">
          <a:solidFill>
            <a:srgbClr val="4D4D4D"/>
          </a:solidFill>
          <a:latin typeface="+mn-lt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buChar char=" "/>
        <a:defRPr sz="2000">
          <a:solidFill>
            <a:srgbClr val="4D4D4D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books.google.de/books?id=Mmp7PAAACAAJ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 sz="quarter"/>
          </p:nvPr>
        </p:nvSpPr>
        <p:spPr>
          <a:xfrm>
            <a:off x="488951" y="1960563"/>
            <a:ext cx="11214100" cy="1828800"/>
          </a:xfrm>
        </p:spPr>
        <p:txBody>
          <a:bodyPr/>
          <a:lstStyle/>
          <a:p>
            <a:r>
              <a:rPr lang="en-US" dirty="0"/>
              <a:t>A Hybrid, Density-based Clustering Approach for </a:t>
            </a:r>
            <a:br>
              <a:rPr lang="en-US" dirty="0"/>
            </a:br>
            <a:r>
              <a:rPr lang="en-US" dirty="0"/>
              <a:t>Spatial Settlement Graphs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de-DE" b="0" dirty="0"/>
              <a:t>Hripsime Sarkisyan</a:t>
            </a:r>
          </a:p>
          <a:p>
            <a:r>
              <a:rPr lang="de-DE" b="0" dirty="0" err="1"/>
              <a:t>Advisor</a:t>
            </a:r>
            <a:r>
              <a:rPr lang="de-DE" b="0" dirty="0"/>
              <a:t>: Lorenz Gruber</a:t>
            </a:r>
          </a:p>
          <a:p>
            <a:r>
              <a:rPr lang="de-DE" b="0" dirty="0"/>
              <a:t>02.07.2025</a:t>
            </a:r>
          </a:p>
        </p:txBody>
      </p:sp>
    </p:spTree>
    <p:extLst>
      <p:ext uri="{BB962C8B-B14F-4D97-AF65-F5344CB8AC3E}">
        <p14:creationId xmlns:p14="http://schemas.microsoft.com/office/powerpoint/2010/main" val="3238498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AEDE9-2069-CB74-712C-18BB60EA4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659E25-3716-5EA9-E8E1-6DFD618B2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70" y="30163"/>
            <a:ext cx="10657417" cy="646112"/>
          </a:xfrm>
        </p:spPr>
        <p:txBody>
          <a:bodyPr/>
          <a:lstStyle/>
          <a:p>
            <a:r>
              <a:rPr lang="en-US" dirty="0"/>
              <a:t>Motivation</a:t>
            </a:r>
          </a:p>
        </p:txBody>
      </p:sp>
      <p:pic>
        <p:nvPicPr>
          <p:cNvPr id="25" name="Grafik 24" descr="Ein Bild, das Text, Screenshot, Karte enthält.&#10;&#10;KI-generierte Inhalte können fehlerhaft sein.">
            <a:extLst>
              <a:ext uri="{FF2B5EF4-FFF2-40B4-BE49-F238E27FC236}">
                <a16:creationId xmlns:a16="http://schemas.microsoft.com/office/drawing/2014/main" id="{9A873C48-2B38-DCD3-2DEF-45737AA7AC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66" t="389" b="33097"/>
          <a:stretch/>
        </p:blipFill>
        <p:spPr>
          <a:xfrm>
            <a:off x="6892486" y="1340767"/>
            <a:ext cx="4272975" cy="42010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26" name="Textfeld 25">
            <a:extLst>
              <a:ext uri="{FF2B5EF4-FFF2-40B4-BE49-F238E27FC236}">
                <a16:creationId xmlns:a16="http://schemas.microsoft.com/office/drawing/2014/main" id="{3C9DD975-C467-E6BD-6D39-2682FAF624A5}"/>
              </a:ext>
            </a:extLst>
          </p:cNvPr>
          <p:cNvSpPr txBox="1"/>
          <p:nvPr/>
        </p:nvSpPr>
        <p:spPr>
          <a:xfrm>
            <a:off x="5951984" y="5661248"/>
            <a:ext cx="6153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latin typeface="+mn-lt"/>
              </a:rPr>
              <a:t>Fig. 2: Settlement chain formed within a single settlement cluster, highlighting how distant built-up areas are incorrectly grouped together [1].</a:t>
            </a:r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0973D83D-CB92-AA38-B368-D8E9B9D72847}"/>
              </a:ext>
            </a:extLst>
          </p:cNvPr>
          <p:cNvSpPr txBox="1">
            <a:spLocks/>
          </p:cNvSpPr>
          <p:nvPr/>
        </p:nvSpPr>
        <p:spPr bwMode="auto">
          <a:xfrm>
            <a:off x="1991545" y="696813"/>
            <a:ext cx="7993063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1200"/>
              </a:spcBef>
              <a:spcAft>
                <a:spcPts val="600"/>
              </a:spcAft>
              <a:buClr>
                <a:srgbClr val="063D79"/>
              </a:buClr>
              <a:buSzPct val="80000"/>
              <a:buFontTx/>
              <a:buNone/>
              <a:defRPr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SzPct val="100000"/>
              <a:buFont typeface="Wingdings" panose="05000000000000000000" pitchFamily="2" charset="2"/>
              <a:buChar char="Ø"/>
              <a:defRPr sz="1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Char char="–"/>
              <a:defRPr sz="1600">
                <a:solidFill>
                  <a:schemeClr val="tx2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Char char=" "/>
              <a:defRPr sz="1600">
                <a:solidFill>
                  <a:schemeClr val="tx2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r>
              <a:rPr lang="de-DE" sz="1400" dirty="0">
                <a:solidFill>
                  <a:schemeClr val="tx1"/>
                </a:solidFill>
              </a:rPr>
              <a:t>Motivation</a:t>
            </a:r>
            <a:r>
              <a:rPr lang="de-DE" sz="1400" b="0" dirty="0">
                <a:solidFill>
                  <a:schemeClr val="accent5">
                    <a:lumMod val="75000"/>
                  </a:schemeClr>
                </a:solidFill>
              </a:rPr>
              <a:t>	</a:t>
            </a:r>
            <a:r>
              <a:rPr lang="de-DE" sz="1400" b="0" dirty="0">
                <a:solidFill>
                  <a:srgbClr val="969696"/>
                </a:solidFill>
              </a:rPr>
              <a:t>	Related Work	Approach	            Risk Analysis	       Conclusion</a:t>
            </a:r>
          </a:p>
        </p:txBody>
      </p:sp>
      <p:sp>
        <p:nvSpPr>
          <p:cNvPr id="28" name="Eingekerbter Richtungspfeil 11">
            <a:extLst>
              <a:ext uri="{FF2B5EF4-FFF2-40B4-BE49-F238E27FC236}">
                <a16:creationId xmlns:a16="http://schemas.microsoft.com/office/drawing/2014/main" id="{3D4AA6B6-279C-FD98-5EBB-A428C69EBB39}"/>
              </a:ext>
            </a:extLst>
          </p:cNvPr>
          <p:cNvSpPr/>
          <p:nvPr/>
        </p:nvSpPr>
        <p:spPr>
          <a:xfrm>
            <a:off x="3395870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9" name="Eingekerbter Richtungspfeil 11">
            <a:extLst>
              <a:ext uri="{FF2B5EF4-FFF2-40B4-BE49-F238E27FC236}">
                <a16:creationId xmlns:a16="http://schemas.microsoft.com/office/drawing/2014/main" id="{795D8DD6-13A6-E7A8-49CF-2FF7591E81F3}"/>
              </a:ext>
            </a:extLst>
          </p:cNvPr>
          <p:cNvSpPr/>
          <p:nvPr/>
        </p:nvSpPr>
        <p:spPr>
          <a:xfrm>
            <a:off x="5375920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0" name="Eingekerbter Richtungspfeil 11">
            <a:extLst>
              <a:ext uri="{FF2B5EF4-FFF2-40B4-BE49-F238E27FC236}">
                <a16:creationId xmlns:a16="http://schemas.microsoft.com/office/drawing/2014/main" id="{410837A5-FD5A-5988-AF86-1B05F6E0EDEA}"/>
              </a:ext>
            </a:extLst>
          </p:cNvPr>
          <p:cNvSpPr/>
          <p:nvPr/>
        </p:nvSpPr>
        <p:spPr>
          <a:xfrm>
            <a:off x="6888088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1" name="Eingekerbter Richtungspfeil 11">
            <a:extLst>
              <a:ext uri="{FF2B5EF4-FFF2-40B4-BE49-F238E27FC236}">
                <a16:creationId xmlns:a16="http://schemas.microsoft.com/office/drawing/2014/main" id="{DC45AF3C-C9BE-31E5-3511-65ED84118CA1}"/>
              </a:ext>
            </a:extLst>
          </p:cNvPr>
          <p:cNvSpPr/>
          <p:nvPr/>
        </p:nvSpPr>
        <p:spPr>
          <a:xfrm>
            <a:off x="8496890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32" name="Grafik 31">
            <a:extLst>
              <a:ext uri="{FF2B5EF4-FFF2-40B4-BE49-F238E27FC236}">
                <a16:creationId xmlns:a16="http://schemas.microsoft.com/office/drawing/2014/main" id="{E8A5A70E-F67C-5525-38C7-89D62B838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139" y="1340767"/>
            <a:ext cx="4430491" cy="42010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946396B0-1022-883B-1400-B04E1FDECB34}"/>
              </a:ext>
            </a:extLst>
          </p:cNvPr>
          <p:cNvSpPr txBox="1"/>
          <p:nvPr/>
        </p:nvSpPr>
        <p:spPr>
          <a:xfrm>
            <a:off x="938187" y="5661248"/>
            <a:ext cx="49153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latin typeface="+mn-lt"/>
              </a:rPr>
              <a:t>Fig. 1: Smaller settlement areas near major clusters are not grouped together, highlighting a limitation in spatial compactness [</a:t>
            </a:r>
            <a:r>
              <a:rPr lang="en-US" b="0" dirty="0" err="1">
                <a:latin typeface="+mn-lt"/>
              </a:rPr>
              <a:t>Africapolis</a:t>
            </a:r>
            <a:r>
              <a:rPr lang="en-US" b="0" dirty="0">
                <a:latin typeface="+mn-lt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345052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Related</a:t>
            </a:r>
            <a:r>
              <a:rPr lang="de-DE" dirty="0"/>
              <a:t> Work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719670" y="1196752"/>
            <a:ext cx="10657417" cy="4896544"/>
          </a:xfrm>
        </p:spPr>
        <p:txBody>
          <a:bodyPr/>
          <a:lstStyle/>
          <a:p>
            <a:pPr marL="0" indent="0" algn="ctr">
              <a:buNone/>
            </a:pPr>
            <a:r>
              <a:rPr lang="de-DE" b="1" dirty="0" err="1">
                <a:solidFill>
                  <a:srgbClr val="3D5876"/>
                </a:solidFill>
              </a:rPr>
              <a:t>Comparison</a:t>
            </a:r>
            <a:r>
              <a:rPr lang="de-DE" b="1" dirty="0">
                <a:solidFill>
                  <a:srgbClr val="3D5876"/>
                </a:solidFill>
              </a:rPr>
              <a:t> Clustering </a:t>
            </a:r>
            <a:r>
              <a:rPr lang="de-DE" b="1" dirty="0" err="1">
                <a:solidFill>
                  <a:srgbClr val="3D5876"/>
                </a:solidFill>
              </a:rPr>
              <a:t>Algorithms</a:t>
            </a:r>
            <a:endParaRPr lang="de-DE" b="1" dirty="0">
              <a:solidFill>
                <a:srgbClr val="3D5876"/>
              </a:solidFill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 bwMode="auto">
          <a:xfrm>
            <a:off x="1991545" y="696813"/>
            <a:ext cx="7993063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1200"/>
              </a:spcBef>
              <a:spcAft>
                <a:spcPts val="600"/>
              </a:spcAft>
              <a:buClr>
                <a:srgbClr val="063D79"/>
              </a:buClr>
              <a:buSzPct val="80000"/>
              <a:buFontTx/>
              <a:buNone/>
              <a:defRPr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SzPct val="100000"/>
              <a:buFont typeface="Wingdings" panose="05000000000000000000" pitchFamily="2" charset="2"/>
              <a:buChar char="Ø"/>
              <a:defRPr sz="1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Char char="–"/>
              <a:defRPr sz="1600">
                <a:solidFill>
                  <a:schemeClr val="tx2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Char char=" "/>
              <a:defRPr sz="1600">
                <a:solidFill>
                  <a:schemeClr val="tx2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r>
              <a:rPr lang="de-DE" sz="1400" b="0" dirty="0">
                <a:solidFill>
                  <a:schemeClr val="accent5">
                    <a:lumMod val="75000"/>
                  </a:schemeClr>
                </a:solidFill>
              </a:rPr>
              <a:t>Motivation	</a:t>
            </a:r>
            <a:r>
              <a:rPr lang="de-DE" sz="1400" b="0" dirty="0">
                <a:solidFill>
                  <a:srgbClr val="969696"/>
                </a:solidFill>
              </a:rPr>
              <a:t>	</a:t>
            </a:r>
            <a:r>
              <a:rPr lang="de-DE" sz="1400" dirty="0">
                <a:solidFill>
                  <a:schemeClr val="tx1"/>
                </a:solidFill>
              </a:rPr>
              <a:t>Related Work</a:t>
            </a:r>
            <a:r>
              <a:rPr lang="de-DE" sz="1400" b="0" dirty="0">
                <a:solidFill>
                  <a:srgbClr val="969696"/>
                </a:solidFill>
              </a:rPr>
              <a:t>	Approach	            Risk Analysis	       Conclusion</a:t>
            </a:r>
          </a:p>
        </p:txBody>
      </p:sp>
      <p:sp>
        <p:nvSpPr>
          <p:cNvPr id="6" name="Eingekerbter Richtungspfeil 11"/>
          <p:cNvSpPr/>
          <p:nvPr/>
        </p:nvSpPr>
        <p:spPr>
          <a:xfrm>
            <a:off x="3395870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Eingekerbter Richtungspfeil 11"/>
          <p:cNvSpPr/>
          <p:nvPr/>
        </p:nvSpPr>
        <p:spPr>
          <a:xfrm>
            <a:off x="5375920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0" name="Eingekerbter Richtungspfeil 11"/>
          <p:cNvSpPr/>
          <p:nvPr/>
        </p:nvSpPr>
        <p:spPr>
          <a:xfrm>
            <a:off x="6888088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" name="Eingekerbter Richtungspfeil 11"/>
          <p:cNvSpPr/>
          <p:nvPr/>
        </p:nvSpPr>
        <p:spPr>
          <a:xfrm>
            <a:off x="8496890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EC29E27B-5C70-854E-6B21-88D55A761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491915"/>
              </p:ext>
            </p:extLst>
          </p:nvPr>
        </p:nvGraphicFramePr>
        <p:xfrm>
          <a:off x="911423" y="1844824"/>
          <a:ext cx="10465664" cy="35204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616416">
                  <a:extLst>
                    <a:ext uri="{9D8B030D-6E8A-4147-A177-3AD203B41FA5}">
                      <a16:colId xmlns:a16="http://schemas.microsoft.com/office/drawing/2014/main" val="1280029320"/>
                    </a:ext>
                  </a:extLst>
                </a:gridCol>
                <a:gridCol w="2616416">
                  <a:extLst>
                    <a:ext uri="{9D8B030D-6E8A-4147-A177-3AD203B41FA5}">
                      <a16:colId xmlns:a16="http://schemas.microsoft.com/office/drawing/2014/main" val="4079220030"/>
                    </a:ext>
                  </a:extLst>
                </a:gridCol>
                <a:gridCol w="2616416">
                  <a:extLst>
                    <a:ext uri="{9D8B030D-6E8A-4147-A177-3AD203B41FA5}">
                      <a16:colId xmlns:a16="http://schemas.microsoft.com/office/drawing/2014/main" val="715892629"/>
                    </a:ext>
                  </a:extLst>
                </a:gridCol>
                <a:gridCol w="2616416">
                  <a:extLst>
                    <a:ext uri="{9D8B030D-6E8A-4147-A177-3AD203B41FA5}">
                      <a16:colId xmlns:a16="http://schemas.microsoft.com/office/drawing/2014/main" val="4000041961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Handles 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Compactness (chaining)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Semantic Attributes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840825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DBSCAN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02395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187506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Spectral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0124508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Graph-based (current)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063586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DBSC (proposed)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546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377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5465F7-5F44-D1C5-04CB-E52446BE4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Related</a:t>
            </a:r>
            <a:r>
              <a:rPr lang="de-DE" dirty="0"/>
              <a:t> Work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2ED5CDE-829B-DA49-C821-B991A3BDF4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6716" y="1085731"/>
            <a:ext cx="10657417" cy="447303"/>
          </a:xfrm>
        </p:spPr>
        <p:txBody>
          <a:bodyPr/>
          <a:lstStyle/>
          <a:p>
            <a:pPr marL="0" indent="0" algn="ctr">
              <a:buNone/>
            </a:pPr>
            <a:r>
              <a:rPr lang="de-DE" b="1" dirty="0"/>
              <a:t>DBSC (</a:t>
            </a:r>
            <a:r>
              <a:rPr lang="en-US" b="1" dirty="0"/>
              <a:t>Density-based spatial clustering algorithm</a:t>
            </a:r>
            <a:r>
              <a:rPr lang="de-DE" b="1" dirty="0"/>
              <a:t>)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E8EEEB1-CDF2-D6C8-1A56-ADA3822C9894}"/>
              </a:ext>
            </a:extLst>
          </p:cNvPr>
          <p:cNvSpPr txBox="1">
            <a:spLocks/>
          </p:cNvSpPr>
          <p:nvPr/>
        </p:nvSpPr>
        <p:spPr bwMode="auto">
          <a:xfrm>
            <a:off x="1991545" y="696813"/>
            <a:ext cx="7993063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1200"/>
              </a:spcBef>
              <a:spcAft>
                <a:spcPts val="600"/>
              </a:spcAft>
              <a:buClr>
                <a:srgbClr val="063D79"/>
              </a:buClr>
              <a:buSzPct val="80000"/>
              <a:buFontTx/>
              <a:buNone/>
              <a:defRPr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SzPct val="100000"/>
              <a:buFont typeface="Wingdings" panose="05000000000000000000" pitchFamily="2" charset="2"/>
              <a:buChar char="Ø"/>
              <a:defRPr sz="1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Char char="–"/>
              <a:defRPr sz="1600">
                <a:solidFill>
                  <a:schemeClr val="tx2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Char char=" "/>
              <a:defRPr sz="1600">
                <a:solidFill>
                  <a:schemeClr val="tx2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r>
              <a:rPr lang="de-DE" sz="1400" b="0" dirty="0">
                <a:solidFill>
                  <a:schemeClr val="accent5">
                    <a:lumMod val="75000"/>
                  </a:schemeClr>
                </a:solidFill>
              </a:rPr>
              <a:t>Motivation	</a:t>
            </a:r>
            <a:r>
              <a:rPr lang="de-DE" sz="1400" b="0" dirty="0">
                <a:solidFill>
                  <a:srgbClr val="969696"/>
                </a:solidFill>
              </a:rPr>
              <a:t>	</a:t>
            </a:r>
            <a:r>
              <a:rPr lang="de-DE" sz="1400" dirty="0">
                <a:solidFill>
                  <a:schemeClr val="tx1"/>
                </a:solidFill>
              </a:rPr>
              <a:t>Related Work</a:t>
            </a:r>
            <a:r>
              <a:rPr lang="de-DE" sz="1400" b="0" dirty="0">
                <a:solidFill>
                  <a:srgbClr val="969696"/>
                </a:solidFill>
              </a:rPr>
              <a:t>	Approach	            Risk Analysis	       Conclusion</a:t>
            </a:r>
          </a:p>
        </p:txBody>
      </p:sp>
      <p:sp>
        <p:nvSpPr>
          <p:cNvPr id="5" name="Eingekerbter Richtungspfeil 11">
            <a:extLst>
              <a:ext uri="{FF2B5EF4-FFF2-40B4-BE49-F238E27FC236}">
                <a16:creationId xmlns:a16="http://schemas.microsoft.com/office/drawing/2014/main" id="{0775A2D9-2D2B-3272-4328-A3898A759074}"/>
              </a:ext>
            </a:extLst>
          </p:cNvPr>
          <p:cNvSpPr/>
          <p:nvPr/>
        </p:nvSpPr>
        <p:spPr>
          <a:xfrm>
            <a:off x="3395870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Eingekerbter Richtungspfeil 11">
            <a:extLst>
              <a:ext uri="{FF2B5EF4-FFF2-40B4-BE49-F238E27FC236}">
                <a16:creationId xmlns:a16="http://schemas.microsoft.com/office/drawing/2014/main" id="{8CB036CC-72DC-4687-5C75-96C048BEDEAB}"/>
              </a:ext>
            </a:extLst>
          </p:cNvPr>
          <p:cNvSpPr/>
          <p:nvPr/>
        </p:nvSpPr>
        <p:spPr>
          <a:xfrm>
            <a:off x="5375920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7" name="Eingekerbter Richtungspfeil 11">
            <a:extLst>
              <a:ext uri="{FF2B5EF4-FFF2-40B4-BE49-F238E27FC236}">
                <a16:creationId xmlns:a16="http://schemas.microsoft.com/office/drawing/2014/main" id="{56BA86A1-EC3D-5300-EC31-D2EDD0467C18}"/>
              </a:ext>
            </a:extLst>
          </p:cNvPr>
          <p:cNvSpPr/>
          <p:nvPr/>
        </p:nvSpPr>
        <p:spPr>
          <a:xfrm>
            <a:off x="6888088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8" name="Eingekerbter Richtungspfeil 11">
            <a:extLst>
              <a:ext uri="{FF2B5EF4-FFF2-40B4-BE49-F238E27FC236}">
                <a16:creationId xmlns:a16="http://schemas.microsoft.com/office/drawing/2014/main" id="{EBBB8C89-03D7-2E69-29F9-E0777411030E}"/>
              </a:ext>
            </a:extLst>
          </p:cNvPr>
          <p:cNvSpPr/>
          <p:nvPr/>
        </p:nvSpPr>
        <p:spPr>
          <a:xfrm>
            <a:off x="8496890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13EFBA91-74A9-7784-3A48-470A0CA240EF}"/>
              </a:ext>
            </a:extLst>
          </p:cNvPr>
          <p:cNvSpPr txBox="1">
            <a:spLocks/>
          </p:cNvSpPr>
          <p:nvPr/>
        </p:nvSpPr>
        <p:spPr bwMode="auto">
          <a:xfrm>
            <a:off x="398634" y="1813058"/>
            <a:ext cx="3002982" cy="4294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ts val="1200"/>
              </a:spcBef>
              <a:spcAft>
                <a:spcPts val="600"/>
              </a:spcAft>
              <a:buClr>
                <a:srgbClr val="063D79"/>
              </a:buClr>
              <a:buSzPct val="80000"/>
              <a:buFont typeface="Wingdings" panose="05000000000000000000" pitchFamily="2" charset="2"/>
              <a:buChar char="Ø"/>
              <a:defRPr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Char char="–"/>
              <a:defRPr sz="1600">
                <a:solidFill>
                  <a:schemeClr val="tx2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Char char=" "/>
              <a:defRPr sz="1600" baseline="0">
                <a:solidFill>
                  <a:schemeClr val="tx2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kern="0" dirty="0">
                <a:solidFill>
                  <a:srgbClr val="063D79"/>
                </a:solidFill>
              </a:rPr>
              <a:t>Step 1:</a:t>
            </a:r>
            <a:r>
              <a:rPr lang="en-US" b="0" kern="0" dirty="0"/>
              <a:t> Construction of </a:t>
            </a:r>
            <a:r>
              <a:rPr lang="en-US" kern="0" dirty="0"/>
              <a:t>spatial neighborhood </a:t>
            </a:r>
            <a:r>
              <a:rPr lang="en-US" b="0" kern="0" dirty="0"/>
              <a:t>using Delaunay triangulation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kern="0" dirty="0">
                <a:solidFill>
                  <a:srgbClr val="063D79"/>
                </a:solidFill>
              </a:rPr>
              <a:t>Step 2:</a:t>
            </a:r>
            <a:r>
              <a:rPr lang="en-US" b="0" kern="0" dirty="0"/>
              <a:t> Computation of </a:t>
            </a:r>
            <a:r>
              <a:rPr lang="en-US" kern="0" dirty="0"/>
              <a:t>density indicator </a:t>
            </a:r>
            <a:r>
              <a:rPr lang="en-US" b="0" kern="0" dirty="0"/>
              <a:t>and determination of an </a:t>
            </a:r>
            <a:r>
              <a:rPr lang="en-US" kern="0" dirty="0"/>
              <a:t>average threshold T</a:t>
            </a:r>
            <a:r>
              <a:rPr lang="en-US" b="0" kern="0" dirty="0"/>
              <a:t>.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kern="0" dirty="0">
                <a:solidFill>
                  <a:srgbClr val="063D79"/>
                </a:solidFill>
              </a:rPr>
              <a:t>Step 3: </a:t>
            </a:r>
            <a:r>
              <a:rPr lang="en-US" b="0" kern="0" dirty="0"/>
              <a:t>Implementation of </a:t>
            </a:r>
            <a:r>
              <a:rPr lang="en-US" kern="0" dirty="0"/>
              <a:t>spatial clustering</a:t>
            </a:r>
            <a:r>
              <a:rPr lang="en-US" b="0" kern="0" dirty="0"/>
              <a:t>.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5C5D23C-0608-7B55-8AD6-4626E0C09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864" y="1474059"/>
            <a:ext cx="5715495" cy="423708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0A250112-1309-64A9-549D-6BAA271B4AA0}"/>
                  </a:ext>
                </a:extLst>
              </p:cNvPr>
              <p:cNvSpPr txBox="1"/>
              <p:nvPr/>
            </p:nvSpPr>
            <p:spPr>
              <a:xfrm>
                <a:off x="5667054" y="5711146"/>
                <a:ext cx="5976664" cy="528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>
                    <a:solidFill>
                      <a:schemeClr val="tx1"/>
                    </a:solidFill>
                    <a:latin typeface="+mj-lt"/>
                  </a:rPr>
                  <a:t>Fig. 3. Spatial clustering result for temperature data obtained from DBSC algorithm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+mj-lt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+mj-lt"/>
                          </a:rPr>
                          <m:t>𝑻</m:t>
                        </m:r>
                      </m:e>
                      <m:sub>
                        <m:r>
                          <a:rPr lang="en-US" dirty="0">
                            <a:solidFill>
                              <a:schemeClr val="tx1"/>
                            </a:solidFill>
                            <a:latin typeface="+mj-lt"/>
                          </a:rPr>
                          <m:t>𝟏</m:t>
                        </m:r>
                      </m:sub>
                    </m:sSub>
                    <m:r>
                      <a:rPr lang="en-US" dirty="0">
                        <a:solidFill>
                          <a:schemeClr val="tx1"/>
                        </a:solidFill>
                        <a:latin typeface="+mj-lt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+mj-lt"/>
                          </a:rPr>
                        </m:ctrlPr>
                      </m:sSupPr>
                      <m:e>
                        <m:r>
                          <a:rPr lang="en-US" dirty="0">
                            <a:solidFill>
                              <a:schemeClr val="tx1"/>
                            </a:solidFill>
                            <a:latin typeface="+mj-lt"/>
                          </a:rPr>
                          <m:t>𝟐</m:t>
                        </m:r>
                        <m:r>
                          <a:rPr lang="de-DE" i="1" dirty="0">
                            <a:solidFill>
                              <a:schemeClr val="tx1"/>
                            </a:solidFill>
                            <a:latin typeface="+mj-lt"/>
                          </a:rPr>
                          <m:t>.</m:t>
                        </m:r>
                        <m:r>
                          <a:rPr lang="de-DE" i="1" dirty="0">
                            <a:solidFill>
                              <a:schemeClr val="tx1"/>
                            </a:solidFill>
                            <a:latin typeface="+mj-lt"/>
                          </a:rPr>
                          <m:t>𝟐</m:t>
                        </m:r>
                        <m:r>
                          <a:rPr lang="de-DE" i="1" dirty="0">
                            <a:solidFill>
                              <a:schemeClr val="tx1"/>
                            </a:solidFill>
                            <a:latin typeface="+mj-lt"/>
                          </a:rPr>
                          <m:t> </m:t>
                        </m:r>
                      </m:e>
                      <m:sup>
                        <m:r>
                          <a:rPr lang="en-US" dirty="0">
                            <a:solidFill>
                              <a:schemeClr val="tx1"/>
                            </a:solidFill>
                            <a:latin typeface="+mj-lt"/>
                          </a:rPr>
                          <m:t>°</m:t>
                        </m:r>
                      </m:sup>
                    </m:sSup>
                    <m:r>
                      <a:rPr lang="en-US" i="1" dirty="0">
                        <a:solidFill>
                          <a:schemeClr val="tx1"/>
                        </a:solidFill>
                        <a:latin typeface="+mj-lt"/>
                      </a:rPr>
                      <m:t>𝑪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+mj-lt"/>
                  </a:rPr>
                  <a:t>, X is noise) [2] </a:t>
                </a:r>
              </a:p>
            </p:txBody>
          </p:sp>
        </mc:Choice>
        <mc:Fallback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0A250112-1309-64A9-549D-6BAA271B4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054" y="5711146"/>
                <a:ext cx="5976664" cy="528030"/>
              </a:xfrm>
              <a:prstGeom prst="rect">
                <a:avLst/>
              </a:prstGeom>
              <a:blipFill>
                <a:blip r:embed="rId4"/>
                <a:stretch>
                  <a:fillRect l="-306" t="-2326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3766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D5876"/>
                </a:solidFill>
              </a:rPr>
              <a:t>Related Work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443372" y="2132856"/>
            <a:ext cx="11305256" cy="2592288"/>
          </a:xfrm>
        </p:spPr>
        <p:txBody>
          <a:bodyPr/>
          <a:lstStyle/>
          <a:p>
            <a:r>
              <a:rPr lang="de-DE" b="1" dirty="0">
                <a:solidFill>
                  <a:srgbClr val="3D5876"/>
                </a:solidFill>
              </a:rPr>
              <a:t>Research </a:t>
            </a:r>
            <a:r>
              <a:rPr lang="de-DE" b="1" dirty="0" err="1">
                <a:solidFill>
                  <a:srgbClr val="3D5876"/>
                </a:solidFill>
              </a:rPr>
              <a:t>questions</a:t>
            </a:r>
            <a:endParaRPr lang="de-DE" b="1" dirty="0">
              <a:solidFill>
                <a:srgbClr val="3D5876"/>
              </a:solidFill>
            </a:endParaRPr>
          </a:p>
          <a:p>
            <a:pPr lvl="1"/>
            <a:r>
              <a:rPr lang="en-US" dirty="0"/>
              <a:t>How can alternative clustering algorithms, such as DBSC, address the issue of settlement chains resulting from the current graph-based clustering approach? </a:t>
            </a:r>
          </a:p>
          <a:p>
            <a:pPr lvl="1"/>
            <a:r>
              <a:rPr lang="en-US" dirty="0"/>
              <a:t>How can the DBSC algorithm or other identified clustering techniques be effectively integrated into the existing graph-based settlement delineation framework? </a:t>
            </a:r>
          </a:p>
          <a:p>
            <a:pPr lvl="1"/>
            <a:r>
              <a:rPr lang="en-US" dirty="0"/>
              <a:t>What evaluation methods can be employed to objectively assess the quality of the proposed clustering algorithms? </a:t>
            </a:r>
            <a:endParaRPr lang="de-DE" b="1" dirty="0">
              <a:solidFill>
                <a:srgbClr val="3D5876"/>
              </a:solidFill>
            </a:endParaRPr>
          </a:p>
        </p:txBody>
      </p:sp>
      <p:sp>
        <p:nvSpPr>
          <p:cNvPr id="3" name="Eingekerbter Richtungspfeil 11">
            <a:extLst>
              <a:ext uri="{FF2B5EF4-FFF2-40B4-BE49-F238E27FC236}">
                <a16:creationId xmlns:a16="http://schemas.microsoft.com/office/drawing/2014/main" id="{76905B7D-EA5D-25F9-0CC2-997FA7296872}"/>
              </a:ext>
            </a:extLst>
          </p:cNvPr>
          <p:cNvSpPr/>
          <p:nvPr/>
        </p:nvSpPr>
        <p:spPr>
          <a:xfrm>
            <a:off x="3395870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4" name="Eingekerbter Richtungspfeil 11">
            <a:extLst>
              <a:ext uri="{FF2B5EF4-FFF2-40B4-BE49-F238E27FC236}">
                <a16:creationId xmlns:a16="http://schemas.microsoft.com/office/drawing/2014/main" id="{07B147BB-8D22-AB56-3B95-145DE2DCEB93}"/>
              </a:ext>
            </a:extLst>
          </p:cNvPr>
          <p:cNvSpPr/>
          <p:nvPr/>
        </p:nvSpPr>
        <p:spPr>
          <a:xfrm>
            <a:off x="5375920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5" name="Eingekerbter Richtungspfeil 11">
            <a:extLst>
              <a:ext uri="{FF2B5EF4-FFF2-40B4-BE49-F238E27FC236}">
                <a16:creationId xmlns:a16="http://schemas.microsoft.com/office/drawing/2014/main" id="{C6B20BB6-E772-65C9-9436-27CEB0F690D7}"/>
              </a:ext>
            </a:extLst>
          </p:cNvPr>
          <p:cNvSpPr/>
          <p:nvPr/>
        </p:nvSpPr>
        <p:spPr>
          <a:xfrm>
            <a:off x="6888088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Eingekerbter Richtungspfeil 11">
            <a:extLst>
              <a:ext uri="{FF2B5EF4-FFF2-40B4-BE49-F238E27FC236}">
                <a16:creationId xmlns:a16="http://schemas.microsoft.com/office/drawing/2014/main" id="{E24B8377-51D5-4CEE-C5B3-EAD15330E5A3}"/>
              </a:ext>
            </a:extLst>
          </p:cNvPr>
          <p:cNvSpPr/>
          <p:nvPr/>
        </p:nvSpPr>
        <p:spPr>
          <a:xfrm>
            <a:off x="8496890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A3CD8CA7-A4A3-83B4-59EA-2D4F300D3108}"/>
              </a:ext>
            </a:extLst>
          </p:cNvPr>
          <p:cNvSpPr txBox="1">
            <a:spLocks/>
          </p:cNvSpPr>
          <p:nvPr/>
        </p:nvSpPr>
        <p:spPr bwMode="auto">
          <a:xfrm>
            <a:off x="1991545" y="696813"/>
            <a:ext cx="7993063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1200"/>
              </a:spcBef>
              <a:spcAft>
                <a:spcPts val="600"/>
              </a:spcAft>
              <a:buClr>
                <a:srgbClr val="063D79"/>
              </a:buClr>
              <a:buSzPct val="80000"/>
              <a:buFontTx/>
              <a:buNone/>
              <a:defRPr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SzPct val="100000"/>
              <a:buFont typeface="Wingdings" panose="05000000000000000000" pitchFamily="2" charset="2"/>
              <a:buChar char="Ø"/>
              <a:defRPr sz="1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Char char="–"/>
              <a:defRPr sz="1600">
                <a:solidFill>
                  <a:schemeClr val="tx2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Char char=" "/>
              <a:defRPr sz="1600">
                <a:solidFill>
                  <a:schemeClr val="tx2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r>
              <a:rPr lang="de-DE" sz="1400" b="0" dirty="0">
                <a:solidFill>
                  <a:schemeClr val="accent5">
                    <a:lumMod val="75000"/>
                  </a:schemeClr>
                </a:solidFill>
              </a:rPr>
              <a:t>Motivation	</a:t>
            </a:r>
            <a:r>
              <a:rPr lang="de-DE" sz="1400" b="0" dirty="0">
                <a:solidFill>
                  <a:srgbClr val="969696"/>
                </a:solidFill>
              </a:rPr>
              <a:t>	</a:t>
            </a:r>
            <a:r>
              <a:rPr lang="de-DE" sz="1400" dirty="0">
                <a:solidFill>
                  <a:schemeClr val="tx1"/>
                </a:solidFill>
              </a:rPr>
              <a:t>Related Work</a:t>
            </a:r>
            <a:r>
              <a:rPr lang="de-DE" sz="1400" b="0" dirty="0">
                <a:solidFill>
                  <a:srgbClr val="969696"/>
                </a:solidFill>
              </a:rPr>
              <a:t>	Approach	            Risk Analysis	       Conclusion</a:t>
            </a:r>
          </a:p>
        </p:txBody>
      </p:sp>
    </p:spTree>
    <p:extLst>
      <p:ext uri="{BB962C8B-B14F-4D97-AF65-F5344CB8AC3E}">
        <p14:creationId xmlns:p14="http://schemas.microsoft.com/office/powerpoint/2010/main" val="3462647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79170E-4416-DDA9-026C-E0FDC6AA8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F46E2C-BBC6-5E66-0BD6-34B2B40EA1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122009"/>
            <a:ext cx="12192000" cy="506792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063D79"/>
                </a:solidFill>
              </a:rPr>
              <a:t>Workflow Overview</a:t>
            </a:r>
          </a:p>
          <a:p>
            <a:pPr marL="0" indent="0" algn="ctr">
              <a:buNone/>
            </a:pPr>
            <a:endParaRPr lang="en-US" b="1" dirty="0">
              <a:solidFill>
                <a:srgbClr val="063D79"/>
              </a:solidFill>
            </a:endParaRPr>
          </a:p>
        </p:txBody>
      </p:sp>
      <p:sp>
        <p:nvSpPr>
          <p:cNvPr id="5" name="Eingekerbter Richtungspfeil 11">
            <a:extLst>
              <a:ext uri="{FF2B5EF4-FFF2-40B4-BE49-F238E27FC236}">
                <a16:creationId xmlns:a16="http://schemas.microsoft.com/office/drawing/2014/main" id="{FA12FCAE-CFA5-9694-BCF8-357A77A04493}"/>
              </a:ext>
            </a:extLst>
          </p:cNvPr>
          <p:cNvSpPr/>
          <p:nvPr/>
        </p:nvSpPr>
        <p:spPr>
          <a:xfrm>
            <a:off x="3395870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Eingekerbter Richtungspfeil 11">
            <a:extLst>
              <a:ext uri="{FF2B5EF4-FFF2-40B4-BE49-F238E27FC236}">
                <a16:creationId xmlns:a16="http://schemas.microsoft.com/office/drawing/2014/main" id="{F05F717D-7E7D-3979-158D-EE982F703049}"/>
              </a:ext>
            </a:extLst>
          </p:cNvPr>
          <p:cNvSpPr/>
          <p:nvPr/>
        </p:nvSpPr>
        <p:spPr>
          <a:xfrm>
            <a:off x="5375920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7" name="Eingekerbter Richtungspfeil 11">
            <a:extLst>
              <a:ext uri="{FF2B5EF4-FFF2-40B4-BE49-F238E27FC236}">
                <a16:creationId xmlns:a16="http://schemas.microsoft.com/office/drawing/2014/main" id="{D5A15654-0306-E62B-DC79-A40B44043418}"/>
              </a:ext>
            </a:extLst>
          </p:cNvPr>
          <p:cNvSpPr/>
          <p:nvPr/>
        </p:nvSpPr>
        <p:spPr>
          <a:xfrm>
            <a:off x="6888088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8" name="Eingekerbter Richtungspfeil 11">
            <a:extLst>
              <a:ext uri="{FF2B5EF4-FFF2-40B4-BE49-F238E27FC236}">
                <a16:creationId xmlns:a16="http://schemas.microsoft.com/office/drawing/2014/main" id="{D0533D17-7122-C4B4-6566-6E394DCF8BFE}"/>
              </a:ext>
            </a:extLst>
          </p:cNvPr>
          <p:cNvSpPr/>
          <p:nvPr/>
        </p:nvSpPr>
        <p:spPr>
          <a:xfrm>
            <a:off x="8496890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8065575D-D461-3F3A-6F3A-92BA216F50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8431397"/>
              </p:ext>
            </p:extLst>
          </p:nvPr>
        </p:nvGraphicFramePr>
        <p:xfrm>
          <a:off x="1739019" y="1556792"/>
          <a:ext cx="8713962" cy="43510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C200A46-77CB-E52E-B404-ED1C1B02CB02}"/>
              </a:ext>
            </a:extLst>
          </p:cNvPr>
          <p:cNvSpPr txBox="1">
            <a:spLocks/>
          </p:cNvSpPr>
          <p:nvPr/>
        </p:nvSpPr>
        <p:spPr bwMode="auto">
          <a:xfrm>
            <a:off x="1991545" y="696813"/>
            <a:ext cx="7993063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1200"/>
              </a:spcBef>
              <a:spcAft>
                <a:spcPts val="600"/>
              </a:spcAft>
              <a:buClr>
                <a:srgbClr val="063D79"/>
              </a:buClr>
              <a:buSzPct val="80000"/>
              <a:buFontTx/>
              <a:buNone/>
              <a:defRPr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SzPct val="100000"/>
              <a:buFont typeface="Wingdings" panose="05000000000000000000" pitchFamily="2" charset="2"/>
              <a:buChar char="Ø"/>
              <a:defRPr sz="1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Char char="–"/>
              <a:defRPr sz="1600">
                <a:solidFill>
                  <a:schemeClr val="tx2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Char char=" "/>
              <a:defRPr sz="1600">
                <a:solidFill>
                  <a:schemeClr val="tx2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r>
              <a:rPr lang="de-DE" sz="1400" b="0" dirty="0">
                <a:solidFill>
                  <a:schemeClr val="accent5">
                    <a:lumMod val="75000"/>
                  </a:schemeClr>
                </a:solidFill>
              </a:rPr>
              <a:t>Motivation	</a:t>
            </a:r>
            <a:r>
              <a:rPr lang="de-DE" sz="1400" b="0" dirty="0">
                <a:solidFill>
                  <a:srgbClr val="969696"/>
                </a:solidFill>
              </a:rPr>
              <a:t>	Related Work	</a:t>
            </a:r>
            <a:r>
              <a:rPr lang="de-DE" sz="1400" dirty="0">
                <a:solidFill>
                  <a:schemeClr val="tx1"/>
                </a:solidFill>
              </a:rPr>
              <a:t>Approach</a:t>
            </a:r>
            <a:r>
              <a:rPr lang="de-DE" sz="1400" b="0" dirty="0">
                <a:solidFill>
                  <a:srgbClr val="969696"/>
                </a:solidFill>
              </a:rPr>
              <a:t>	            Risk Analysis	       Conclusion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901870A-0714-278D-E14D-1D3282095681}"/>
              </a:ext>
            </a:extLst>
          </p:cNvPr>
          <p:cNvSpPr txBox="1"/>
          <p:nvPr/>
        </p:nvSpPr>
        <p:spPr>
          <a:xfrm>
            <a:off x="1739019" y="1556792"/>
            <a:ext cx="2268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+mn-lt"/>
              </a:rPr>
              <a:t>Input Data WSF</a:t>
            </a:r>
            <a:endParaRPr lang="en-US" sz="1600" dirty="0" err="1">
              <a:latin typeface="+mn-lt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22DB1E8-6474-99D3-84DA-B654260ED8E1}"/>
              </a:ext>
            </a:extLst>
          </p:cNvPr>
          <p:cNvSpPr txBox="1"/>
          <p:nvPr/>
        </p:nvSpPr>
        <p:spPr>
          <a:xfrm>
            <a:off x="1760992" y="3861048"/>
            <a:ext cx="23907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+mn-lt"/>
              </a:rPr>
              <a:t>Output</a:t>
            </a:r>
            <a:endParaRPr lang="en-US" sz="1600" dirty="0" err="1">
              <a:latin typeface="+mn-lt"/>
            </a:endParaRPr>
          </a:p>
        </p:txBody>
      </p:sp>
      <p:pic>
        <p:nvPicPr>
          <p:cNvPr id="1036" name="Picture 12" descr="shapefile iconv2 | Free SVG">
            <a:extLst>
              <a:ext uri="{FF2B5EF4-FFF2-40B4-BE49-F238E27FC236}">
                <a16:creationId xmlns:a16="http://schemas.microsoft.com/office/drawing/2014/main" id="{3E8B8D24-9336-D088-2910-A5ABF3709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4227391"/>
            <a:ext cx="1226863" cy="122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2467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C77787-0E0E-0B93-4A32-E9A4A9D41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2B32D454-08EA-9E85-B3B3-D8E582937DFE}"/>
              </a:ext>
            </a:extLst>
          </p:cNvPr>
          <p:cNvSpPr txBox="1">
            <a:spLocks/>
          </p:cNvSpPr>
          <p:nvPr/>
        </p:nvSpPr>
        <p:spPr bwMode="auto">
          <a:xfrm>
            <a:off x="1991545" y="696812"/>
            <a:ext cx="8136903" cy="266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1200"/>
              </a:spcBef>
              <a:spcAft>
                <a:spcPts val="600"/>
              </a:spcAft>
              <a:buClr>
                <a:srgbClr val="063D79"/>
              </a:buClr>
              <a:buSzPct val="80000"/>
              <a:buFontTx/>
              <a:buNone/>
              <a:defRPr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SzPct val="100000"/>
              <a:buFont typeface="Wingdings" panose="05000000000000000000" pitchFamily="2" charset="2"/>
              <a:buChar char="Ø"/>
              <a:defRPr sz="1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Char char="–"/>
              <a:defRPr sz="1600">
                <a:solidFill>
                  <a:schemeClr val="tx2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Char char=" "/>
              <a:defRPr sz="1600">
                <a:solidFill>
                  <a:schemeClr val="tx2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r>
              <a:rPr lang="de-DE" sz="1400" b="0" dirty="0">
                <a:solidFill>
                  <a:srgbClr val="969696"/>
                </a:solidFill>
              </a:rPr>
              <a:t>Motivation</a:t>
            </a:r>
            <a:r>
              <a:rPr lang="de-DE" sz="1400" b="0" kern="1200" dirty="0">
                <a:solidFill>
                  <a:srgbClr val="969696"/>
                </a:solidFill>
              </a:rPr>
              <a:t> </a:t>
            </a:r>
            <a:r>
              <a:rPr lang="de-DE" sz="1400" b="1" kern="1200" dirty="0">
                <a:solidFill>
                  <a:srgbClr val="000000"/>
                </a:solidFill>
              </a:rPr>
              <a:t>	</a:t>
            </a:r>
            <a:r>
              <a:rPr lang="de-DE" sz="1400" b="0" kern="1200" dirty="0">
                <a:solidFill>
                  <a:srgbClr val="969696"/>
                </a:solidFill>
              </a:rPr>
              <a:t>	</a:t>
            </a:r>
            <a:r>
              <a:rPr lang="de-DE" sz="1400" b="0" dirty="0">
                <a:solidFill>
                  <a:srgbClr val="969696"/>
                </a:solidFill>
              </a:rPr>
              <a:t> </a:t>
            </a:r>
            <a:r>
              <a:rPr lang="de-DE" sz="1400" b="0" dirty="0" err="1">
                <a:solidFill>
                  <a:srgbClr val="969696"/>
                </a:solidFill>
              </a:rPr>
              <a:t>Related</a:t>
            </a:r>
            <a:r>
              <a:rPr lang="de-DE" sz="1400" b="0" dirty="0">
                <a:solidFill>
                  <a:srgbClr val="969696"/>
                </a:solidFill>
              </a:rPr>
              <a:t> Work</a:t>
            </a:r>
            <a:r>
              <a:rPr lang="de-DE" sz="1400" b="0" kern="1200" dirty="0">
                <a:solidFill>
                  <a:srgbClr val="969696"/>
                </a:solidFill>
              </a:rPr>
              <a:t>	</a:t>
            </a:r>
            <a:r>
              <a:rPr lang="de-DE" sz="1400" kern="1200" dirty="0">
                <a:solidFill>
                  <a:schemeClr val="tx1"/>
                </a:solidFill>
              </a:rPr>
              <a:t>Approach</a:t>
            </a:r>
            <a:r>
              <a:rPr lang="de-DE" sz="1400" b="0" kern="1200" dirty="0">
                <a:solidFill>
                  <a:srgbClr val="969696"/>
                </a:solidFill>
              </a:rPr>
              <a:t>	           </a:t>
            </a:r>
            <a:r>
              <a:rPr lang="de-DE" sz="1400" b="0" dirty="0">
                <a:solidFill>
                  <a:srgbClr val="969696"/>
                </a:solidFill>
              </a:rPr>
              <a:t>Risk Analysis </a:t>
            </a:r>
            <a:r>
              <a:rPr lang="de-DE" sz="1400" b="0" kern="1200" dirty="0">
                <a:solidFill>
                  <a:srgbClr val="969696"/>
                </a:solidFill>
              </a:rPr>
              <a:t>	       </a:t>
            </a:r>
            <a:r>
              <a:rPr lang="de-DE" sz="1400" b="0" kern="1200" dirty="0" err="1">
                <a:solidFill>
                  <a:srgbClr val="969696"/>
                </a:solidFill>
              </a:rPr>
              <a:t>Conclusion</a:t>
            </a:r>
            <a:endParaRPr lang="de-DE" sz="1400" b="0" kern="1200" dirty="0">
              <a:solidFill>
                <a:srgbClr val="969696"/>
              </a:solidFill>
            </a:endParaRPr>
          </a:p>
        </p:txBody>
      </p:sp>
      <p:sp>
        <p:nvSpPr>
          <p:cNvPr id="5" name="Eingekerbter Richtungspfeil 11">
            <a:extLst>
              <a:ext uri="{FF2B5EF4-FFF2-40B4-BE49-F238E27FC236}">
                <a16:creationId xmlns:a16="http://schemas.microsoft.com/office/drawing/2014/main" id="{2ABE4812-A6FB-6352-A540-2BE8B73A066E}"/>
              </a:ext>
            </a:extLst>
          </p:cNvPr>
          <p:cNvSpPr/>
          <p:nvPr/>
        </p:nvSpPr>
        <p:spPr>
          <a:xfrm>
            <a:off x="3395870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Eingekerbter Richtungspfeil 11">
            <a:extLst>
              <a:ext uri="{FF2B5EF4-FFF2-40B4-BE49-F238E27FC236}">
                <a16:creationId xmlns:a16="http://schemas.microsoft.com/office/drawing/2014/main" id="{E48A6FE2-E07D-B0CF-2FD3-6A29BD528479}"/>
              </a:ext>
            </a:extLst>
          </p:cNvPr>
          <p:cNvSpPr/>
          <p:nvPr/>
        </p:nvSpPr>
        <p:spPr>
          <a:xfrm>
            <a:off x="5375920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7" name="Eingekerbter Richtungspfeil 11">
            <a:extLst>
              <a:ext uri="{FF2B5EF4-FFF2-40B4-BE49-F238E27FC236}">
                <a16:creationId xmlns:a16="http://schemas.microsoft.com/office/drawing/2014/main" id="{D8E766D9-903F-6D22-3164-D6A15EDA4EAA}"/>
              </a:ext>
            </a:extLst>
          </p:cNvPr>
          <p:cNvSpPr/>
          <p:nvPr/>
        </p:nvSpPr>
        <p:spPr>
          <a:xfrm>
            <a:off x="6888088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8" name="Eingekerbter Richtungspfeil 11">
            <a:extLst>
              <a:ext uri="{FF2B5EF4-FFF2-40B4-BE49-F238E27FC236}">
                <a16:creationId xmlns:a16="http://schemas.microsoft.com/office/drawing/2014/main" id="{B6AF8212-7CD1-9747-397A-BED65B753E0F}"/>
              </a:ext>
            </a:extLst>
          </p:cNvPr>
          <p:cNvSpPr/>
          <p:nvPr/>
        </p:nvSpPr>
        <p:spPr>
          <a:xfrm>
            <a:off x="8496890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2C245B9-20B7-FE57-AF95-930AA2CFC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68" y="1189162"/>
            <a:ext cx="4608512" cy="3686809"/>
          </a:xfrm>
          <a:prstGeom prst="rect">
            <a:avLst/>
          </a:prstGeom>
        </p:spPr>
      </p:pic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EF86F1A0-FEF2-62B5-CA7C-6F47FDFAC8F8}"/>
              </a:ext>
            </a:extLst>
          </p:cNvPr>
          <p:cNvSpPr txBox="1">
            <a:spLocks/>
          </p:cNvSpPr>
          <p:nvPr/>
        </p:nvSpPr>
        <p:spPr bwMode="auto">
          <a:xfrm>
            <a:off x="8414277" y="1189162"/>
            <a:ext cx="3675925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ts val="1200"/>
              </a:spcBef>
              <a:spcAft>
                <a:spcPts val="600"/>
              </a:spcAft>
              <a:buClr>
                <a:srgbClr val="063D79"/>
              </a:buClr>
              <a:buSzPct val="80000"/>
              <a:buFont typeface="Wingdings" panose="05000000000000000000" pitchFamily="2" charset="2"/>
              <a:buChar char="Ø"/>
              <a:defRPr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Char char="–"/>
              <a:defRPr sz="1600">
                <a:solidFill>
                  <a:schemeClr val="tx2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Char char=" "/>
              <a:defRPr sz="1600" baseline="0">
                <a:solidFill>
                  <a:schemeClr val="tx2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1800" b="0" dirty="0"/>
              <a:t>The term </a:t>
            </a:r>
            <a:r>
              <a:rPr lang="en-US" sz="1800" dirty="0"/>
              <a:t>compactness</a:t>
            </a:r>
            <a:r>
              <a:rPr lang="en-US" sz="1800" b="0" dirty="0"/>
              <a:t> usually relates to a spatial metric used to evaluate the shape and cohesion of a cluster [3].</a:t>
            </a:r>
            <a:endParaRPr lang="en-US" sz="1800" b="0" kern="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0" kern="0" dirty="0"/>
              <a:t>In graph theory, the concept of </a:t>
            </a:r>
            <a:r>
              <a:rPr lang="en-US" sz="1800" kern="0" dirty="0"/>
              <a:t>connectivity</a:t>
            </a:r>
            <a:r>
              <a:rPr lang="en-US" sz="1800" b="0" kern="0" dirty="0"/>
              <a:t> describes the stability and integrity of a graph’s structure [4].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Optional: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Expert validation </a:t>
            </a:r>
            <a:br>
              <a:rPr lang="en-US" sz="18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b="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(if feasible)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800" b="0" kern="0" dirty="0"/>
          </a:p>
          <a:p>
            <a:pPr marL="0" indent="0">
              <a:buNone/>
            </a:pPr>
            <a:endParaRPr lang="en-US" b="0" kern="0" dirty="0"/>
          </a:p>
        </p:txBody>
      </p:sp>
      <p:pic>
        <p:nvPicPr>
          <p:cNvPr id="19" name="Grafik 18" descr="Ein Bild, das Diagramm, Origami enthält.&#10;&#10;KI-generierte Inhalte können fehlerhaft sein.">
            <a:extLst>
              <a:ext uri="{FF2B5EF4-FFF2-40B4-BE49-F238E27FC236}">
                <a16:creationId xmlns:a16="http://schemas.microsoft.com/office/drawing/2014/main" id="{1A835D56-4C8F-F678-A06E-F74CFC2126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6" t="1889" r="50603" b="4098"/>
          <a:stretch/>
        </p:blipFill>
        <p:spPr>
          <a:xfrm>
            <a:off x="5231049" y="1189162"/>
            <a:ext cx="2883271" cy="3816535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A3934062-50ED-958E-53E6-BE132C22B6F3}"/>
              </a:ext>
            </a:extLst>
          </p:cNvPr>
          <p:cNvSpPr txBox="1"/>
          <p:nvPr/>
        </p:nvSpPr>
        <p:spPr>
          <a:xfrm>
            <a:off x="5086169" y="5003065"/>
            <a:ext cx="3569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chemeClr val="tx2"/>
                </a:solidFill>
                <a:latin typeface="+mn-lt"/>
              </a:rPr>
              <a:t>Fig. 4. Illustration of graph connectivity [6].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E477804A-9A1B-1B59-F9C6-992C8227BC6D}"/>
              </a:ext>
            </a:extLst>
          </p:cNvPr>
          <p:cNvSpPr txBox="1"/>
          <p:nvPr/>
        </p:nvSpPr>
        <p:spPr>
          <a:xfrm>
            <a:off x="476108" y="4991301"/>
            <a:ext cx="4247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chemeClr val="tx2"/>
                </a:solidFill>
                <a:latin typeface="+mn-lt"/>
              </a:rPr>
              <a:t>Fig. 3. The compactness of land development in the cities of Pearl River Delta in 1988-1997 [5]</a:t>
            </a:r>
          </a:p>
        </p:txBody>
      </p:sp>
    </p:spTree>
    <p:extLst>
      <p:ext uri="{BB962C8B-B14F-4D97-AF65-F5344CB8AC3E}">
        <p14:creationId xmlns:p14="http://schemas.microsoft.com/office/powerpoint/2010/main" val="2151696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F8A746-6D11-8423-82DE-73DA522D2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Analysis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B233B55-87FB-9110-44AD-24AF083D4F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9367" y="1700808"/>
            <a:ext cx="10657417" cy="4176464"/>
          </a:xfrm>
        </p:spPr>
        <p:txBody>
          <a:bodyPr/>
          <a:lstStyle/>
          <a:p>
            <a:r>
              <a:rPr lang="en-US" dirty="0"/>
              <a:t>Resource Limitations with Computing</a:t>
            </a:r>
          </a:p>
          <a:p>
            <a:pPr lvl="1"/>
            <a:r>
              <a:rPr lang="en-US" sz="2000" dirty="0"/>
              <a:t>Utilize computing infrastructure provided by the university, including access to lab workstations or remote servers with higher processing capabilities.</a:t>
            </a:r>
          </a:p>
          <a:p>
            <a:r>
              <a:rPr lang="en-US" dirty="0"/>
              <a:t>Risks in Evaluation Methods</a:t>
            </a:r>
          </a:p>
          <a:p>
            <a:pPr lvl="1"/>
            <a:r>
              <a:rPr lang="en-US" sz="2000" dirty="0"/>
              <a:t>Expert surveys may be treated as an optional evaluation method in cases where an insufficient number of qualified experts can be consulted to provide objectively reliable feedback.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05E69DF-D1FC-B2FE-CE4D-001DD7B67B69}"/>
              </a:ext>
            </a:extLst>
          </p:cNvPr>
          <p:cNvSpPr txBox="1">
            <a:spLocks/>
          </p:cNvSpPr>
          <p:nvPr/>
        </p:nvSpPr>
        <p:spPr bwMode="auto">
          <a:xfrm>
            <a:off x="1991545" y="696813"/>
            <a:ext cx="7993063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1200"/>
              </a:spcBef>
              <a:spcAft>
                <a:spcPts val="600"/>
              </a:spcAft>
              <a:buClr>
                <a:srgbClr val="063D79"/>
              </a:buClr>
              <a:buSzPct val="80000"/>
              <a:buFontTx/>
              <a:buNone/>
              <a:defRPr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SzPct val="100000"/>
              <a:buFont typeface="Wingdings" panose="05000000000000000000" pitchFamily="2" charset="2"/>
              <a:buChar char="Ø"/>
              <a:defRPr sz="1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Char char="–"/>
              <a:defRPr sz="1600">
                <a:solidFill>
                  <a:schemeClr val="tx2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Char char=" "/>
              <a:defRPr sz="1600">
                <a:solidFill>
                  <a:schemeClr val="tx2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r>
              <a:rPr lang="de-DE" sz="1400" b="0" dirty="0">
                <a:solidFill>
                  <a:srgbClr val="969696"/>
                </a:solidFill>
              </a:rPr>
              <a:t>Motivation</a:t>
            </a:r>
            <a:r>
              <a:rPr lang="de-DE" sz="1400" b="0" kern="1200" dirty="0">
                <a:solidFill>
                  <a:srgbClr val="969696"/>
                </a:solidFill>
              </a:rPr>
              <a:t> </a:t>
            </a:r>
            <a:r>
              <a:rPr lang="de-DE" sz="1400" b="1" kern="1200" dirty="0">
                <a:solidFill>
                  <a:srgbClr val="000000"/>
                </a:solidFill>
              </a:rPr>
              <a:t>	</a:t>
            </a:r>
            <a:r>
              <a:rPr lang="de-DE" sz="1400" b="0" kern="1200" dirty="0">
                <a:solidFill>
                  <a:srgbClr val="969696"/>
                </a:solidFill>
              </a:rPr>
              <a:t>	</a:t>
            </a:r>
            <a:r>
              <a:rPr lang="de-DE" sz="1400" b="0" dirty="0">
                <a:solidFill>
                  <a:srgbClr val="969696"/>
                </a:solidFill>
              </a:rPr>
              <a:t> </a:t>
            </a:r>
            <a:r>
              <a:rPr lang="de-DE" sz="1400" b="0" dirty="0" err="1">
                <a:solidFill>
                  <a:srgbClr val="969696"/>
                </a:solidFill>
              </a:rPr>
              <a:t>Related</a:t>
            </a:r>
            <a:r>
              <a:rPr lang="de-DE" sz="1400" b="0" dirty="0">
                <a:solidFill>
                  <a:srgbClr val="969696"/>
                </a:solidFill>
              </a:rPr>
              <a:t> Work</a:t>
            </a:r>
            <a:r>
              <a:rPr lang="de-DE" sz="1400" b="0" kern="1200" dirty="0">
                <a:solidFill>
                  <a:srgbClr val="969696"/>
                </a:solidFill>
              </a:rPr>
              <a:t>	Approach	            </a:t>
            </a:r>
            <a:r>
              <a:rPr lang="en-US" sz="1400" dirty="0"/>
              <a:t>Risk Analysis</a:t>
            </a:r>
            <a:r>
              <a:rPr lang="de-DE" sz="1400" b="0" kern="1200" dirty="0">
                <a:solidFill>
                  <a:srgbClr val="969696"/>
                </a:solidFill>
              </a:rPr>
              <a:t>	       </a:t>
            </a:r>
            <a:r>
              <a:rPr lang="de-DE" sz="1400" b="0" kern="1200" dirty="0" err="1">
                <a:solidFill>
                  <a:srgbClr val="969696"/>
                </a:solidFill>
              </a:rPr>
              <a:t>Conclusion</a:t>
            </a:r>
            <a:endParaRPr lang="de-DE" sz="1400" b="0" kern="1200" dirty="0">
              <a:solidFill>
                <a:srgbClr val="969696"/>
              </a:solidFill>
            </a:endParaRPr>
          </a:p>
        </p:txBody>
      </p:sp>
      <p:sp>
        <p:nvSpPr>
          <p:cNvPr id="5" name="Eingekerbter Richtungspfeil 11">
            <a:extLst>
              <a:ext uri="{FF2B5EF4-FFF2-40B4-BE49-F238E27FC236}">
                <a16:creationId xmlns:a16="http://schemas.microsoft.com/office/drawing/2014/main" id="{D602067C-0F47-1A40-DC6E-49E2F67C8DD3}"/>
              </a:ext>
            </a:extLst>
          </p:cNvPr>
          <p:cNvSpPr/>
          <p:nvPr/>
        </p:nvSpPr>
        <p:spPr>
          <a:xfrm>
            <a:off x="3395870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Eingekerbter Richtungspfeil 11">
            <a:extLst>
              <a:ext uri="{FF2B5EF4-FFF2-40B4-BE49-F238E27FC236}">
                <a16:creationId xmlns:a16="http://schemas.microsoft.com/office/drawing/2014/main" id="{610544AB-3631-8A71-A409-50AA9990A8FB}"/>
              </a:ext>
            </a:extLst>
          </p:cNvPr>
          <p:cNvSpPr/>
          <p:nvPr/>
        </p:nvSpPr>
        <p:spPr>
          <a:xfrm>
            <a:off x="5375920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7" name="Eingekerbter Richtungspfeil 11">
            <a:extLst>
              <a:ext uri="{FF2B5EF4-FFF2-40B4-BE49-F238E27FC236}">
                <a16:creationId xmlns:a16="http://schemas.microsoft.com/office/drawing/2014/main" id="{209F870B-EE1E-0E38-102B-0BF737B649A6}"/>
              </a:ext>
            </a:extLst>
          </p:cNvPr>
          <p:cNvSpPr/>
          <p:nvPr/>
        </p:nvSpPr>
        <p:spPr>
          <a:xfrm>
            <a:off x="6888088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8" name="Eingekerbter Richtungspfeil 11">
            <a:extLst>
              <a:ext uri="{FF2B5EF4-FFF2-40B4-BE49-F238E27FC236}">
                <a16:creationId xmlns:a16="http://schemas.microsoft.com/office/drawing/2014/main" id="{DCE8ED09-F44D-CA9B-08B5-9E6DB1AD90AC}"/>
              </a:ext>
            </a:extLst>
          </p:cNvPr>
          <p:cNvSpPr/>
          <p:nvPr/>
        </p:nvSpPr>
        <p:spPr>
          <a:xfrm>
            <a:off x="8496890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718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890873-A416-3B13-0FBF-2AD459771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Schedule</a:t>
            </a:r>
            <a:endParaRPr lang="en-US" dirty="0"/>
          </a:p>
        </p:txBody>
      </p:sp>
      <p:pic>
        <p:nvPicPr>
          <p:cNvPr id="4" name="Grafik 3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5B66C544-A4A1-1CA9-8528-0BDB2B127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544" y="836712"/>
            <a:ext cx="8627325" cy="531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289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377F84-FC0E-4DCB-ACA2-26F5A7396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D645F75-B69F-B90B-24E9-0AB76A966030}"/>
              </a:ext>
            </a:extLst>
          </p:cNvPr>
          <p:cNvSpPr txBox="1">
            <a:spLocks/>
          </p:cNvSpPr>
          <p:nvPr/>
        </p:nvSpPr>
        <p:spPr bwMode="auto">
          <a:xfrm>
            <a:off x="1991545" y="696813"/>
            <a:ext cx="7993063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1200"/>
              </a:spcBef>
              <a:spcAft>
                <a:spcPts val="600"/>
              </a:spcAft>
              <a:buClr>
                <a:srgbClr val="063D79"/>
              </a:buClr>
              <a:buSzPct val="80000"/>
              <a:buFontTx/>
              <a:buNone/>
              <a:defRPr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SzPct val="100000"/>
              <a:buFont typeface="Wingdings" panose="05000000000000000000" pitchFamily="2" charset="2"/>
              <a:buChar char="Ø"/>
              <a:defRPr sz="1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Char char="–"/>
              <a:defRPr sz="1600">
                <a:solidFill>
                  <a:schemeClr val="tx2"/>
                </a:solidFill>
                <a:latin typeface="+mn-lt"/>
              </a:defRPr>
            </a:lvl3pPr>
            <a:lvl4pPr marL="15621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+mn-lt"/>
              </a:defRPr>
            </a:lvl4pPr>
            <a:lvl5pPr marL="1981200" indent="-22860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rgbClr val="063D79"/>
              </a:buClr>
              <a:buChar char=" "/>
              <a:defRPr sz="1600">
                <a:solidFill>
                  <a:schemeClr val="tx2"/>
                </a:solidFill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 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r>
              <a:rPr lang="de-DE" sz="1400" b="0" dirty="0">
                <a:solidFill>
                  <a:srgbClr val="969696"/>
                </a:solidFill>
              </a:rPr>
              <a:t>Motivation</a:t>
            </a:r>
            <a:r>
              <a:rPr lang="de-DE" sz="1400" b="0" kern="1200" dirty="0">
                <a:solidFill>
                  <a:srgbClr val="969696"/>
                </a:solidFill>
              </a:rPr>
              <a:t> </a:t>
            </a:r>
            <a:r>
              <a:rPr lang="de-DE" sz="1400" b="1" kern="1200" dirty="0">
                <a:solidFill>
                  <a:srgbClr val="000000"/>
                </a:solidFill>
              </a:rPr>
              <a:t>	</a:t>
            </a:r>
            <a:r>
              <a:rPr lang="de-DE" sz="1400" b="0" kern="1200" dirty="0">
                <a:solidFill>
                  <a:srgbClr val="969696"/>
                </a:solidFill>
              </a:rPr>
              <a:t>	</a:t>
            </a:r>
            <a:r>
              <a:rPr lang="de-DE" sz="1400" b="0" dirty="0">
                <a:solidFill>
                  <a:srgbClr val="969696"/>
                </a:solidFill>
              </a:rPr>
              <a:t> </a:t>
            </a:r>
            <a:r>
              <a:rPr lang="de-DE" sz="1400" b="0" dirty="0" err="1">
                <a:solidFill>
                  <a:srgbClr val="969696"/>
                </a:solidFill>
              </a:rPr>
              <a:t>Related</a:t>
            </a:r>
            <a:r>
              <a:rPr lang="de-DE" sz="1400" b="0" dirty="0">
                <a:solidFill>
                  <a:srgbClr val="969696"/>
                </a:solidFill>
              </a:rPr>
              <a:t> Work</a:t>
            </a:r>
            <a:r>
              <a:rPr lang="de-DE" sz="1400" b="0" kern="1200" dirty="0">
                <a:solidFill>
                  <a:srgbClr val="969696"/>
                </a:solidFill>
              </a:rPr>
              <a:t>	Approach	            </a:t>
            </a:r>
            <a:r>
              <a:rPr lang="en-US" sz="1400" b="0" dirty="0">
                <a:solidFill>
                  <a:srgbClr val="969696"/>
                </a:solidFill>
              </a:rPr>
              <a:t>Risk Analysis</a:t>
            </a:r>
            <a:r>
              <a:rPr lang="de-DE" sz="1400" b="0" kern="1200" dirty="0">
                <a:solidFill>
                  <a:srgbClr val="969696"/>
                </a:solidFill>
              </a:rPr>
              <a:t>	       </a:t>
            </a:r>
            <a:r>
              <a:rPr lang="de-DE" sz="1400" kern="1200" dirty="0" err="1">
                <a:solidFill>
                  <a:schemeClr val="tx1"/>
                </a:solidFill>
              </a:rPr>
              <a:t>Conclusion</a:t>
            </a:r>
            <a:endParaRPr lang="de-DE" sz="1400" kern="1200" dirty="0">
              <a:solidFill>
                <a:schemeClr val="tx1"/>
              </a:solidFill>
            </a:endParaRPr>
          </a:p>
        </p:txBody>
      </p:sp>
      <p:sp>
        <p:nvSpPr>
          <p:cNvPr id="5" name="Eingekerbter Richtungspfeil 11">
            <a:extLst>
              <a:ext uri="{FF2B5EF4-FFF2-40B4-BE49-F238E27FC236}">
                <a16:creationId xmlns:a16="http://schemas.microsoft.com/office/drawing/2014/main" id="{36736586-6027-3A28-2521-4CAD7513FBF8}"/>
              </a:ext>
            </a:extLst>
          </p:cNvPr>
          <p:cNvSpPr/>
          <p:nvPr/>
        </p:nvSpPr>
        <p:spPr>
          <a:xfrm>
            <a:off x="3395870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Eingekerbter Richtungspfeil 11">
            <a:extLst>
              <a:ext uri="{FF2B5EF4-FFF2-40B4-BE49-F238E27FC236}">
                <a16:creationId xmlns:a16="http://schemas.microsoft.com/office/drawing/2014/main" id="{1FB356C6-1655-BEBF-3559-AD2D06589AE9}"/>
              </a:ext>
            </a:extLst>
          </p:cNvPr>
          <p:cNvSpPr/>
          <p:nvPr/>
        </p:nvSpPr>
        <p:spPr>
          <a:xfrm>
            <a:off x="5375920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7" name="Eingekerbter Richtungspfeil 11">
            <a:extLst>
              <a:ext uri="{FF2B5EF4-FFF2-40B4-BE49-F238E27FC236}">
                <a16:creationId xmlns:a16="http://schemas.microsoft.com/office/drawing/2014/main" id="{B536EF57-9B83-D1DB-7436-13BCD6D67A41}"/>
              </a:ext>
            </a:extLst>
          </p:cNvPr>
          <p:cNvSpPr/>
          <p:nvPr/>
        </p:nvSpPr>
        <p:spPr>
          <a:xfrm>
            <a:off x="6888088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8" name="Eingekerbter Richtungspfeil 11">
            <a:extLst>
              <a:ext uri="{FF2B5EF4-FFF2-40B4-BE49-F238E27FC236}">
                <a16:creationId xmlns:a16="http://schemas.microsoft.com/office/drawing/2014/main" id="{F8049805-85B5-659C-1CCB-8B67BE6B3D7C}"/>
              </a:ext>
            </a:extLst>
          </p:cNvPr>
          <p:cNvSpPr/>
          <p:nvPr/>
        </p:nvSpPr>
        <p:spPr>
          <a:xfrm>
            <a:off x="8496890" y="750915"/>
            <a:ext cx="158496" cy="15849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graphicFrame>
        <p:nvGraphicFramePr>
          <p:cNvPr id="21" name="Diagramm 20">
            <a:extLst>
              <a:ext uri="{FF2B5EF4-FFF2-40B4-BE49-F238E27FC236}">
                <a16:creationId xmlns:a16="http://schemas.microsoft.com/office/drawing/2014/main" id="{BFAE6407-D012-EE28-49CA-4E74BA2849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5972629"/>
              </p:ext>
            </p:extLst>
          </p:nvPr>
        </p:nvGraphicFramePr>
        <p:xfrm>
          <a:off x="1055440" y="2276872"/>
          <a:ext cx="9937104" cy="7920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D500A9C3-F217-9283-8420-068AD2BB5C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5935237"/>
              </p:ext>
            </p:extLst>
          </p:nvPr>
        </p:nvGraphicFramePr>
        <p:xfrm>
          <a:off x="1655890" y="1412776"/>
          <a:ext cx="8784976" cy="4464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841032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F2B625-CBB1-79F6-5093-DEE4ED9E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Bibliography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3369F4-3486-8C27-7ED3-907A4818D8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7904" y="908720"/>
            <a:ext cx="11196727" cy="5184576"/>
          </a:xfrm>
        </p:spPr>
        <p:txBody>
          <a:bodyPr/>
          <a:lstStyle/>
          <a:p>
            <a:pPr marL="0" indent="0">
              <a:buNone/>
            </a:pPr>
            <a:r>
              <a:rPr lang="de-DE" sz="1600" b="0" i="0" u="none" strike="noStrike" baseline="0" dirty="0">
                <a:latin typeface="Calibri" panose="020F0502020204030204" pitchFamily="34" charset="0"/>
              </a:rPr>
              <a:t>[1] Gruber, Lorenz (202</a:t>
            </a:r>
            <a:r>
              <a:rPr lang="de-DE" sz="1600" dirty="0">
                <a:latin typeface="Calibri" panose="020F0502020204030204" pitchFamily="34" charset="0"/>
              </a:rPr>
              <a:t>4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): A Processing Framework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for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Graph-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based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Urban Area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Delineation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and Analysis. Julius-Maximilians-Universität Würzburg.</a:t>
            </a:r>
          </a:p>
          <a:p>
            <a:pPr marL="0" indent="0">
              <a:buNone/>
            </a:pPr>
            <a:r>
              <a:rPr lang="de-DE" sz="1600" b="0" i="0" u="none" strike="noStrike" baseline="0" dirty="0">
                <a:latin typeface="Calibri" panose="020F0502020204030204" pitchFamily="34" charset="0"/>
              </a:rPr>
              <a:t>[2]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Qiliang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Liu; Min Deng; Yan Shi;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Jiaqiu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Wang (2012): A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density-based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spatial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clustering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algorithm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considering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both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spatial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proximity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and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attribute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similarity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. In: </a:t>
            </a:r>
            <a:r>
              <a:rPr lang="de-DE" sz="1600" b="0" i="1" u="none" strike="noStrike" baseline="0" dirty="0">
                <a:latin typeface="Calibri" panose="020F0502020204030204" pitchFamily="34" charset="0"/>
              </a:rPr>
              <a:t>Computers &amp; </a:t>
            </a:r>
            <a:r>
              <a:rPr lang="de-DE" sz="1600" b="0" i="1" u="none" strike="noStrike" baseline="0" dirty="0" err="1">
                <a:latin typeface="Calibri" panose="020F0502020204030204" pitchFamily="34" charset="0"/>
              </a:rPr>
              <a:t>Geosciences</a:t>
            </a:r>
            <a:r>
              <a:rPr lang="de-DE" sz="1600" b="0" i="1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46, S. 296–309. DOI: 10.1016/j.cageo.2011.12.017.</a:t>
            </a:r>
            <a:endParaRPr lang="de-DE" sz="1600" dirty="0">
              <a:latin typeface="Calibri" panose="020F0502020204030204" pitchFamily="34" charset="0"/>
            </a:endParaRPr>
          </a:p>
          <a:p>
            <a:pPr marL="0" marR="0" indent="0" algn="l" rtl="0">
              <a:buNone/>
            </a:pPr>
            <a:r>
              <a:rPr lang="de-DE" sz="1600" b="0" i="0" u="none" strike="noStrike" baseline="0" dirty="0">
                <a:latin typeface="Calibri" panose="020F0502020204030204" pitchFamily="34" charset="0"/>
              </a:rPr>
              <a:t>[</a:t>
            </a:r>
            <a:r>
              <a:rPr lang="de-DE" sz="1600" dirty="0">
                <a:latin typeface="Calibri" panose="020F0502020204030204" pitchFamily="34" charset="0"/>
              </a:rPr>
              <a:t>3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]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Shirowzhan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, Sara;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Sepasgozar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, Samad M.E.; Li, Heng;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Trinder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, John (2018):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Spatial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compactness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metrics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and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Constrained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Voxel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Automata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development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for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analyzing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3D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densification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and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applying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to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point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clouds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: A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synthetic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review. In: </a:t>
            </a:r>
            <a:r>
              <a:rPr lang="de-DE" sz="1600" b="0" i="1" u="none" strike="noStrike" baseline="0" dirty="0">
                <a:latin typeface="Calibri" panose="020F0502020204030204" pitchFamily="34" charset="0"/>
              </a:rPr>
              <a:t>Automation in Construction 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96, S. 236–249. DOI: 10.1016/j.autcon.2018.09.018.</a:t>
            </a:r>
          </a:p>
          <a:p>
            <a:pPr marL="0" indent="0">
              <a:buNone/>
            </a:pPr>
            <a:r>
              <a:rPr lang="en-US" sz="1600" b="0" i="0" u="none" strike="noStrike" baseline="0" dirty="0">
                <a:latin typeface="Calibri" panose="020F0502020204030204" pitchFamily="34" charset="0"/>
              </a:rPr>
              <a:t>[4] Voloshin, V. I. (2009): Introduction to Graph Theory: Nova Science Publishers. Online </a:t>
            </a:r>
            <a:r>
              <a:rPr lang="en-US" sz="1600" b="0" i="0" u="none" strike="noStrike" baseline="0" dirty="0" err="1">
                <a:latin typeface="Calibri" panose="020F0502020204030204" pitchFamily="34" charset="0"/>
              </a:rPr>
              <a:t>verfügbar</a:t>
            </a:r>
            <a:r>
              <a:rPr lang="en-US" sz="1600" b="0" i="0" u="none" strike="noStrike" baseline="0" dirty="0">
                <a:latin typeface="Calibri" panose="020F0502020204030204" pitchFamily="34" charset="0"/>
              </a:rPr>
              <a:t> unter</a:t>
            </a:r>
            <a:r>
              <a:rPr lang="en-US" sz="1600" b="0" i="0" u="none" strike="noStrike" baseline="0" dirty="0">
                <a:latin typeface="Calibri" panose="020F0502020204030204" pitchFamily="34" charset="0"/>
                <a:hlinkClick r:id="rId2"/>
              </a:rPr>
              <a:t>https://books.google.de/books?id=Mmp7PAAACAAJ</a:t>
            </a:r>
            <a:r>
              <a:rPr lang="en-US" sz="1600" b="0" i="0" u="none" strike="noStrike" baseline="0" dirty="0">
                <a:latin typeface="Calibri" panose="020F0502020204030204" pitchFamily="34" charset="0"/>
              </a:rPr>
              <a:t>.</a:t>
            </a:r>
            <a:endParaRPr lang="en-US" sz="1600" dirty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b="0" i="0" u="none" strike="noStrike" baseline="0" dirty="0">
                <a:latin typeface="Calibri" panose="020F0502020204030204" pitchFamily="34" charset="0"/>
              </a:rPr>
              <a:t>[5] 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Li, Xia; Yeh, Anthony Gar-On (2004):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Analyzing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spatial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restructuring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of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land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use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patterns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in a fast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growing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region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using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remote </a:t>
            </a:r>
            <a:r>
              <a:rPr lang="de-DE" sz="1600" b="0" i="0" u="none" strike="noStrike" baseline="0" dirty="0" err="1">
                <a:latin typeface="Calibri" panose="020F0502020204030204" pitchFamily="34" charset="0"/>
              </a:rPr>
              <a:t>sensing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 and GIS. In: </a:t>
            </a:r>
            <a:r>
              <a:rPr lang="de-DE" sz="1600" b="0" i="1" u="none" strike="noStrike" baseline="0" dirty="0">
                <a:latin typeface="Calibri" panose="020F0502020204030204" pitchFamily="34" charset="0"/>
              </a:rPr>
              <a:t>Landscape and Urban </a:t>
            </a:r>
            <a:r>
              <a:rPr lang="de-DE" sz="1600" b="0" i="1" u="none" strike="noStrike" baseline="0" dirty="0" err="1">
                <a:latin typeface="Calibri" panose="020F0502020204030204" pitchFamily="34" charset="0"/>
              </a:rPr>
              <a:t>Planning</a:t>
            </a:r>
            <a:r>
              <a:rPr lang="de-DE" sz="1600" b="0" i="1" u="none" strike="noStrike" baseline="0" dirty="0">
                <a:latin typeface="Calibri" panose="020F0502020204030204" pitchFamily="34" charset="0"/>
              </a:rPr>
              <a:t> </a:t>
            </a:r>
            <a:r>
              <a:rPr lang="de-DE" sz="1600" b="0" i="0" u="none" strike="noStrike" baseline="0" dirty="0">
                <a:latin typeface="Calibri" panose="020F0502020204030204" pitchFamily="34" charset="0"/>
              </a:rPr>
              <a:t>69 (4), S. 335–354. DOI: 10.1016/j.landurbplan.2003.10.033.</a:t>
            </a:r>
          </a:p>
          <a:p>
            <a:pPr marL="0" indent="0">
              <a:buNone/>
            </a:pPr>
            <a:r>
              <a:rPr lang="de-DE" sz="1600" dirty="0">
                <a:latin typeface="Calibri" panose="020F0502020204030204" pitchFamily="34" charset="0"/>
              </a:rPr>
              <a:t>[6] </a:t>
            </a:r>
            <a:r>
              <a:rPr lang="en-US" sz="1600" dirty="0">
                <a:latin typeface="Calibri" panose="020F0502020204030204" pitchFamily="34" charset="0"/>
              </a:rPr>
              <a:t>Adamu, Murtala &amp; Ang, Li-Minn &amp; Seng, Kah. (2013). A formal mathematical framework for modeling and simulation of wireless sensor network environments utilizing the hill-building behavior of termites. SIMULATION. 89. 589-615. 10.1177/0037549712466706. </a:t>
            </a:r>
            <a:endParaRPr lang="de-DE" sz="1600" b="0" i="0" u="none" strike="noStrike" baseline="0" dirty="0">
              <a:latin typeface="Calibri" panose="020F0502020204030204" pitchFamily="34" charset="0"/>
            </a:endParaRPr>
          </a:p>
          <a:p>
            <a:pPr marL="0" marR="0" indent="0" algn="l" rtl="0">
              <a:buNone/>
            </a:pPr>
            <a:endParaRPr lang="en-US" sz="1500" b="0" i="0" u="none" strike="noStrike" baseline="0" dirty="0">
              <a:latin typeface="Calibri" panose="020F0502020204030204" pitchFamily="34" charset="0"/>
            </a:endParaRPr>
          </a:p>
          <a:p>
            <a:pPr marL="0" marR="0" indent="0" algn="l" rtl="0">
              <a:buNone/>
            </a:pPr>
            <a:endParaRPr lang="en-US" sz="1500" b="0" i="0" u="none" strike="noStrike" baseline="0" dirty="0"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773894043"/>
      </p:ext>
    </p:extLst>
  </p:cSld>
  <p:clrMapOvr>
    <a:masterClrMapping/>
  </p:clrMapOvr>
</p:sld>
</file>

<file path=ppt/theme/theme1.xml><?xml version="1.0" encoding="utf-8"?>
<a:theme xmlns:a="http://schemas.openxmlformats.org/drawingml/2006/main" name="SE_powerpoint_17">
  <a:themeElements>
    <a:clrScheme name="LS3 Schem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63D79"/>
      </a:accent1>
      <a:accent2>
        <a:srgbClr val="B92700"/>
      </a:accent2>
      <a:accent3>
        <a:srgbClr val="008439"/>
      </a:accent3>
      <a:accent4>
        <a:srgbClr val="B97000"/>
      </a:accent4>
      <a:accent5>
        <a:srgbClr val="D8DADC"/>
      </a:accent5>
      <a:accent6>
        <a:srgbClr val="3F3F3F"/>
      </a:accent6>
      <a:hlink>
        <a:srgbClr val="063D79"/>
      </a:hlink>
      <a:folHlink>
        <a:srgbClr val="D8DADC"/>
      </a:folHlink>
    </a:clrScheme>
    <a:fontScheme name="Vorlag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600" b="1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+mn-l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Rounded MT Bold" pitchFamily="34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600" b="0" dirty="0" err="1" smtClean="0">
            <a:latin typeface="+mn-lt"/>
          </a:defRPr>
        </a:defPPr>
      </a:lstStyle>
    </a:txDef>
  </a:objectDefaults>
  <a:extraClrSchemeLst>
    <a:extraClrScheme>
      <a:clrScheme name="Vorlag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orlag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Vorlage_-_Students_16.9.pptx" id="{E69349FC-9B54-4376-8D35-E83C1DA02EAB}" vid="{BA1B7DEA-2664-44F1-B1F7-7664F8C0B231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Vorlage_-_Students_16.9</Template>
  <TotalTime>0</TotalTime>
  <Words>1265</Words>
  <Application>Microsoft Office PowerPoint</Application>
  <PresentationFormat>Breitbild</PresentationFormat>
  <Paragraphs>126</Paragraphs>
  <Slides>11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9" baseType="lpstr">
      <vt:lpstr>Aptos</vt:lpstr>
      <vt:lpstr>Arial</vt:lpstr>
      <vt:lpstr>Arial Rounded MT Bold</vt:lpstr>
      <vt:lpstr>Calibri</vt:lpstr>
      <vt:lpstr>Times New Roman</vt:lpstr>
      <vt:lpstr>Wingdings</vt:lpstr>
      <vt:lpstr>Wingdings 3</vt:lpstr>
      <vt:lpstr>SE_powerpoint_17</vt:lpstr>
      <vt:lpstr>A Hybrid, Density-based Clustering Approach for  Spatial Settlement Graphs</vt:lpstr>
      <vt:lpstr>Motivation</vt:lpstr>
      <vt:lpstr>Related Work</vt:lpstr>
      <vt:lpstr>Related Work</vt:lpstr>
      <vt:lpstr>Related Work</vt:lpstr>
      <vt:lpstr>Approach</vt:lpstr>
      <vt:lpstr>Approach</vt:lpstr>
      <vt:lpstr>Risk Analysis</vt:lpstr>
      <vt:lpstr>Schedule</vt:lpstr>
      <vt:lpstr>Conclusion</vt:lpstr>
      <vt:lpstr>Bibliography</vt:lpstr>
    </vt:vector>
  </TitlesOfParts>
  <Company>University of Würzburg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Johannes</dc:creator>
  <cp:lastModifiedBy>Hripsime Sarkisyan</cp:lastModifiedBy>
  <cp:revision>113</cp:revision>
  <cp:lastPrinted>2016-01-25T12:52:54Z</cp:lastPrinted>
  <dcterms:created xsi:type="dcterms:W3CDTF">2021-10-28T09:49:50Z</dcterms:created>
  <dcterms:modified xsi:type="dcterms:W3CDTF">2025-07-02T08:29:29Z</dcterms:modified>
</cp:coreProperties>
</file>